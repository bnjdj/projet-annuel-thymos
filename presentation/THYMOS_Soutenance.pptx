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vous présente THYMOS, un logiciel de gestion pensé pour les coachs et les salles de MMA. Le nom vient du grec thymos, le cœur du guerrier, la force qui anime le combattant. En une phrase : THYMOS centralise tout le suivi des combattants pour que le coach ne rate plus rien et gagne du temps. Je vais d'abord vous présenter le produit et ses clients, puis je rentrerai dans un point technique précis : l'intégration des paiements Stripe.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est concret. Un coach gère entre 3 et 30 combattants, et aujourd'hui il n'a aucun outil dédié : tout est dans ses notes de téléphone, dans des fichiers Excel, ou dans sa tête. Le vrai danger, ce sont les signaux faibles qu'on rate : le mental d'un athlète qui décroche, un poids qui ne descend pas assez vite avant une pesée, une petite blessure qu'on laisse traîner. Ces oublis coûtent des combats et des carrières.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réponse de THYMOS, c'est un seul outil qui regroupe tout : le suivi physique, le mental, l'historique des combats, le planning, les blessures, les camps de préparation. Le positionnement est clair et c'est notre force : THYMOS est le premier outil de gestion pensé pour le MMA, et non une application de fitness générique qu'on essaie d'adapter. Nos concurrents aujourd'hui, ce sont Excel, les notes iPhone et des apps fitness pas du tout faites pour le combat.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notre client, formulé avec le canevas de proposition de valeur. Pour nos coachs de MMA, boxe ou jiu-jitsu qui gèrent 3 à 30 combattants et veulent ne plus rien rater et gagner du temps, THYMOS propose le premier outil de gestion pensé pour le MMA. Le critère de succès est très concret : vendre le premier abonnement Pro à un coach marseillais, puis s'étendre en France. Le persona type, c'est un coach passionné, très bon techniquement, mais débordé par la gestion. Et THYMOS est un produit marseillais, ancré localement avant de viser plus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marché, on commence à Marseille, puis on vise la France : on estime à environ 2000 le nombre de salles de sports de combat sur le territoire. Le modèle est un freemium en trois plans. Découverte, gratuit, pour tester avec 3 combattants. Pro, à 59 euros par mois, jusqu'à 15 combattants, c'est notre cible principale. Elite, à 129 euros par mois, en illimité, pour les grosses structures. Et une remise de 20 pour cent pour un engagement annuel. Tout l'encaissement passe par Stripe, et c'est justement le point technique que je vais détailler maintenant.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qu'est-ce qui est déjà livré ? Un dashboard avec les indicateurs clés et des graphiques. Une fiche combattant détaillée avec ses scores physiques et mentaux. La gestion des combats avec le record et le taux de finish. Un planning avec export vers l'agenda. Des alertes automatiques qui font remonter les signaux faibles. Le suivi des blessures. Et aussi les camps de préparation, un questionnaire hebdomadaire et un rapport pré-combat imprimable. Ce ne sont pas des maquettes : ces modules sont fonctionnels.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volontairement simple. Le front est en HTML, CSS et JavaScript vanilla, sans aucun framework ni étape de build, avec Chart.js pour les graphes et GSAP pour les animations, hébergé sur Netlify. Il dialogue avec Supabase, qui me fournit la base PostgreSQL, l'authentification, la sécurité au niveau des lignes avec les RLS, et des fonctions serveur RPC. Et Supabase est connecté à Stripe pour les paiements. C'est cette brique paiement que je détaille maintenant.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point technique : comment encaisser des abonnements récurrents sans gérer moi-même la complexité et la sécurité des cartes bancaires, et sans monter un backend dédié. Trois options s'offraient à moi. Collecter les cartes sur THYMOS : à proscrire, risque de sécurité énorme. L'API Checkout personnalisée : puissante, mais elle demande un backend à développer et maintenir. Et les Payment Links de Stripe : une page de paiement entièrement hébergée par Stripe. J'ai choisi les Payment Links : zéro backend, mise en place rapide, et toute la conformité est déléguée à Stripe.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L'argument central est la sécurité. THYMOS ne voit jamais un numéro de carte : tout se passe sur la page hébergée par Stripe, ce qui délègue la conformité PCI-DSS. Le flux est le suivant : depuis la landing avec la grille tarifaire, le coach part sur la page Stripe pour payer, puis revient sur une page d'activation. Là, une fonction serveur Supabase, verify_and_activate_plan, vérifie réellement le paiement avant d'activer le plan. Une table dédiée garantit qu'un paiement ne peut servir qu'une seule fois. Et une anecdote qui montre la démarche : une ancienne page maison qui collectait des cartes en clair a été repérée lors d'un audit de sécurité, puis neutralisée.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où en est-on, honnêtement ? Le système est en mode test, et il est opérationnel : les Payment Links et la vérification serveur fonctionnent, l'activation est contrôlée côté Supabase. Point important, un garde-fou : la fonction activate_plan est verrouillée sur le plan gratuit, donc il est impossible de s'attribuer Pro ou Elite sans un paiement vérifié. C'est d'ailleurs une faille qui a été fermée à l'audit. La prochaine étape, c'est un webhook checkout.session.completed via une Edge Function, pour rendre l'activation 100 pour cent automatique, et le passage en mode live. Ce travail démontre l'intégration d'un service de paiement tiers, un raisonnement sécurité PCI-DSS, une architecture serverless, l'usage de fonctions RPC PostgreSQL et la gestion des états d'abonnement.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la vision de THYMOS est de devenir l'outil de référence des coachs de sports de combat, en partant de Marseille. À court terme, finaliser le webhook et passer en mode live. À moyen terme, décrocher le premier abonnement Pro marseillais. À long terme, le déploiement en France. Je vous remercie, et je suis à votre disposition pour vos questions. Molon labe.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51B"/>
        </a:solidFill>
      </p:bgPr>
    </p:bg>
    <p:spTree>
      <p:nvGrpSpPr>
        <p:cNvPr id="1" name=""/>
        <p:cNvGrpSpPr/>
        <p:nvPr/>
      </p:nvGrpSpPr>
      <p:grpSpPr>
        <a:xfrm>
          <a:off x="0" y="0"/>
          <a:ext cx="0" cy="0"/>
          <a:chOff x="0" y="0"/>
          <a:chExt cx="0" cy="0"/>
        </a:xfrm>
      </p:grpSpPr>
      <p:sp>
        <p:nvSpPr>
          <p:cNvPr id="2" name="Shape 0"/>
          <p:cNvSpPr/>
          <p:nvPr/>
        </p:nvSpPr>
        <p:spPr>
          <a:xfrm>
            <a:off x="4114800" y="658368"/>
            <a:ext cx="914400" cy="914400"/>
          </a:xfrm>
          <a:prstGeom prst="ellipse">
            <a:avLst/>
          </a:prstGeom>
          <a:solidFill>
            <a:srgbClr val="33333D"/>
          </a:solidFill>
          <a:ln w="28575">
            <a:solidFill>
              <a:srgbClr val="C9A227"/>
            </a:solidFill>
            <a:prstDash val="solid"/>
          </a:ln>
        </p:spPr>
      </p:sp>
      <p:sp>
        <p:nvSpPr>
          <p:cNvPr id="3" name="Text 1"/>
          <p:cNvSpPr/>
          <p:nvPr/>
        </p:nvSpPr>
        <p:spPr>
          <a:xfrm>
            <a:off x="4114800" y="658368"/>
            <a:ext cx="914400" cy="914400"/>
          </a:xfrm>
          <a:prstGeom prst="rect">
            <a:avLst/>
          </a:prstGeom>
          <a:noFill/>
          <a:ln/>
        </p:spPr>
        <p:txBody>
          <a:bodyPr wrap="square" lIns="0" tIns="0" rIns="0" bIns="0" rtlCol="0" anchor="ctr"/>
          <a:lstStyle/>
          <a:p>
            <a:pPr algn="ctr" indent="0" marL="0">
              <a:buNone/>
            </a:pPr>
            <a:r>
              <a:rPr lang="en-US" sz="4600" b="1" dirty="0">
                <a:solidFill>
                  <a:srgbClr val="C9A227"/>
                </a:solidFill>
                <a:latin typeface="Cambria" pitchFamily="34" charset="0"/>
                <a:ea typeface="Cambria" pitchFamily="34" charset="-122"/>
                <a:cs typeface="Cambria" pitchFamily="34" charset="-120"/>
              </a:rPr>
              <a:t>Θ</a:t>
            </a:r>
            <a:endParaRPr lang="en-US" sz="4600" dirty="0"/>
          </a:p>
        </p:txBody>
      </p:sp>
      <p:sp>
        <p:nvSpPr>
          <p:cNvPr id="4" name="Text 2"/>
          <p:cNvSpPr/>
          <p:nvPr/>
        </p:nvSpPr>
        <p:spPr>
          <a:xfrm>
            <a:off x="0" y="1810512"/>
            <a:ext cx="9144000" cy="914400"/>
          </a:xfrm>
          <a:prstGeom prst="rect">
            <a:avLst/>
          </a:prstGeom>
          <a:noFill/>
          <a:ln/>
        </p:spPr>
        <p:txBody>
          <a:bodyPr wrap="square" lIns="0" tIns="0" rIns="0" bIns="0" rtlCol="0" anchor="ctr"/>
          <a:lstStyle/>
          <a:p>
            <a:pPr algn="ctr" indent="0" marL="0">
              <a:buNone/>
            </a:pPr>
            <a:r>
              <a:rPr lang="en-US" sz="6000" b="1" spc="600" kern="0" dirty="0">
                <a:solidFill>
                  <a:srgbClr val="F5F2EA"/>
                </a:solidFill>
                <a:latin typeface="Cinzel" pitchFamily="34" charset="0"/>
                <a:ea typeface="Cinzel" pitchFamily="34" charset="-122"/>
                <a:cs typeface="Cinzel" pitchFamily="34" charset="-120"/>
              </a:rPr>
              <a:t>THYMOS</a:t>
            </a:r>
            <a:endParaRPr lang="en-US" sz="6000" dirty="0"/>
          </a:p>
        </p:txBody>
      </p:sp>
      <p:sp>
        <p:nvSpPr>
          <p:cNvPr id="5" name="Text 3"/>
          <p:cNvSpPr/>
          <p:nvPr/>
        </p:nvSpPr>
        <p:spPr>
          <a:xfrm>
            <a:off x="0" y="2788920"/>
            <a:ext cx="9144000" cy="411480"/>
          </a:xfrm>
          <a:prstGeom prst="rect">
            <a:avLst/>
          </a:prstGeom>
          <a:noFill/>
          <a:ln/>
        </p:spPr>
        <p:txBody>
          <a:bodyPr wrap="square" lIns="0" tIns="0" rIns="0" bIns="0" rtlCol="0" anchor="ctr"/>
          <a:lstStyle/>
          <a:p>
            <a:pPr algn="ctr" indent="0" marL="0">
              <a:buNone/>
            </a:pPr>
            <a:r>
              <a:rPr lang="en-US" sz="1800" i="1" dirty="0">
                <a:solidFill>
                  <a:srgbClr val="E6C765"/>
                </a:solidFill>
                <a:latin typeface="Inter" pitchFamily="34" charset="0"/>
                <a:ea typeface="Inter" pitchFamily="34" charset="-122"/>
                <a:cs typeface="Inter" pitchFamily="34" charset="-120"/>
              </a:rPr>
              <a:t>Le cœur du guerrier</a:t>
            </a:r>
            <a:endParaRPr lang="en-US" sz="1800" dirty="0"/>
          </a:p>
        </p:txBody>
      </p:sp>
      <p:sp>
        <p:nvSpPr>
          <p:cNvPr id="6" name="Text 4"/>
          <p:cNvSpPr/>
          <p:nvPr/>
        </p:nvSpPr>
        <p:spPr>
          <a:xfrm>
            <a:off x="0" y="3291840"/>
            <a:ext cx="9144000" cy="320040"/>
          </a:xfrm>
          <a:prstGeom prst="rect">
            <a:avLst/>
          </a:prstGeom>
          <a:noFill/>
          <a:ln/>
        </p:spPr>
        <p:txBody>
          <a:bodyPr wrap="square" lIns="0" tIns="0" rIns="0" bIns="0" rtlCol="0" anchor="ctr"/>
          <a:lstStyle/>
          <a:p>
            <a:pPr algn="ctr" indent="0" marL="0">
              <a:buNone/>
            </a:pPr>
            <a:r>
              <a:rPr lang="en-US" sz="1200" spc="200" kern="0" dirty="0">
                <a:solidFill>
                  <a:srgbClr val="BDB8AE"/>
                </a:solidFill>
                <a:latin typeface="Inter" pitchFamily="34" charset="0"/>
                <a:ea typeface="Inter" pitchFamily="34" charset="-122"/>
                <a:cs typeface="Inter" pitchFamily="34" charset="-120"/>
              </a:rPr>
              <a:t>LOGICIEL DE GESTION POUR COACHS ET SALLES DE MMA</a:t>
            </a:r>
            <a:endParaRPr lang="en-US" sz="1200" dirty="0"/>
          </a:p>
        </p:txBody>
      </p:sp>
      <p:sp>
        <p:nvSpPr>
          <p:cNvPr id="7" name="Text 5"/>
          <p:cNvSpPr/>
          <p:nvPr/>
        </p:nvSpPr>
        <p:spPr>
          <a:xfrm>
            <a:off x="0" y="4315968"/>
            <a:ext cx="9144000" cy="320040"/>
          </a:xfrm>
          <a:prstGeom prst="rect">
            <a:avLst/>
          </a:prstGeom>
          <a:noFill/>
          <a:ln/>
        </p:spPr>
        <p:txBody>
          <a:bodyPr wrap="square" lIns="0" tIns="0" rIns="0" bIns="0" rtlCol="0" anchor="ctr"/>
          <a:lstStyle/>
          <a:p>
            <a:pPr algn="ctr" indent="0" marL="0">
              <a:buNone/>
            </a:pPr>
            <a:r>
              <a:rPr lang="en-US" sz="1500" b="1" spc="500" kern="0" dirty="0">
                <a:solidFill>
                  <a:srgbClr val="C9A227"/>
                </a:solidFill>
                <a:latin typeface="Cambria" pitchFamily="34" charset="0"/>
                <a:ea typeface="Cambria" pitchFamily="34" charset="-122"/>
                <a:cs typeface="Cambria" pitchFamily="34" charset="-120"/>
              </a:rPr>
              <a:t>ΜΟΛΩΝ ΛΑΒΕ</a:t>
            </a:r>
            <a:endParaRPr lang="en-US" sz="1500" dirty="0"/>
          </a:p>
        </p:txBody>
      </p:sp>
      <p:sp>
        <p:nvSpPr>
          <p:cNvPr id="8" name="Text 6"/>
          <p:cNvSpPr/>
          <p:nvPr/>
        </p:nvSpPr>
        <p:spPr>
          <a:xfrm>
            <a:off x="0" y="4700016"/>
            <a:ext cx="9144000" cy="274320"/>
          </a:xfrm>
          <a:prstGeom prst="rect">
            <a:avLst/>
          </a:prstGeom>
          <a:noFill/>
          <a:ln/>
        </p:spPr>
        <p:txBody>
          <a:bodyPr wrap="square" lIns="0" tIns="0" rIns="0" bIns="0" rtlCol="0" anchor="ctr"/>
          <a:lstStyle/>
          <a:p>
            <a:pPr algn="ctr" indent="0" marL="0">
              <a:buNone/>
            </a:pPr>
            <a:r>
              <a:rPr lang="en-US" sz="1100" dirty="0">
                <a:solidFill>
                  <a:srgbClr val="BDB8AE"/>
                </a:solidFill>
                <a:latin typeface="Inter" pitchFamily="34" charset="0"/>
                <a:ea typeface="Inter" pitchFamily="34" charset="-122"/>
                <a:cs typeface="Inter" pitchFamily="34" charset="-120"/>
              </a:rPr>
              <a:t>Projet annuel  ·  Benjamin (ARES)  ·  ESGI Bachelor SRS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6262E"/>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150" b="1" spc="300" kern="0" dirty="0">
                <a:solidFill>
                  <a:srgbClr val="C9A227"/>
                </a:solidFill>
                <a:latin typeface="Inter" pitchFamily="34" charset="0"/>
                <a:ea typeface="Inter" pitchFamily="34" charset="-122"/>
                <a:cs typeface="Inter" pitchFamily="34" charset="-120"/>
              </a:rPr>
              <a:t>01  ·  LE PROBLÈME</a:t>
            </a:r>
            <a:endParaRPr lang="en-US" sz="1150" dirty="0"/>
          </a:p>
        </p:txBody>
      </p:sp>
      <p:sp>
        <p:nvSpPr>
          <p:cNvPr id="3" name="Text 1"/>
          <p:cNvSpPr/>
          <p:nvPr/>
        </p:nvSpPr>
        <p:spPr>
          <a:xfrm>
            <a:off x="548640" y="658368"/>
            <a:ext cx="8046720" cy="713232"/>
          </a:xfrm>
          <a:prstGeom prst="rect">
            <a:avLst/>
          </a:prstGeom>
          <a:noFill/>
          <a:ln/>
        </p:spPr>
        <p:txBody>
          <a:bodyPr wrap="square" lIns="0" tIns="0" rIns="0" bIns="0" rtlCol="0" anchor="ctr"/>
          <a:lstStyle/>
          <a:p>
            <a:pPr indent="0" marL="0">
              <a:buNone/>
            </a:pPr>
            <a:r>
              <a:rPr lang="en-US" sz="3000" b="1" spc="100" kern="0" dirty="0">
                <a:solidFill>
                  <a:srgbClr val="F5F2EA"/>
                </a:solidFill>
                <a:latin typeface="Cinzel" pitchFamily="34" charset="0"/>
                <a:ea typeface="Cinzel" pitchFamily="34" charset="-122"/>
                <a:cs typeface="Cinzel" pitchFamily="34" charset="-120"/>
              </a:rPr>
              <a:t>LE COACH DÉBORDÉ</a:t>
            </a:r>
            <a:endParaRPr lang="en-US" sz="3000" dirty="0"/>
          </a:p>
        </p:txBody>
      </p:sp>
      <p:sp>
        <p:nvSpPr>
          <p:cNvPr id="4" name="Text 2"/>
          <p:cNvSpPr/>
          <p:nvPr/>
        </p:nvSpPr>
        <p:spPr>
          <a:xfrm>
            <a:off x="548640" y="1481328"/>
            <a:ext cx="8046720" cy="457200"/>
          </a:xfrm>
          <a:prstGeom prst="rect">
            <a:avLst/>
          </a:prstGeom>
          <a:noFill/>
          <a:ln/>
        </p:spPr>
        <p:txBody>
          <a:bodyPr wrap="square" lIns="0" tIns="0" rIns="0" bIns="0" rtlCol="0" anchor="ctr"/>
          <a:lstStyle/>
          <a:p>
            <a:pPr indent="0" marL="0">
              <a:buNone/>
            </a:pPr>
            <a:r>
              <a:rPr lang="en-US" sz="1600" dirty="0">
                <a:solidFill>
                  <a:srgbClr val="F5F2EA"/>
                </a:solidFill>
                <a:latin typeface="Inter" pitchFamily="34" charset="0"/>
                <a:ea typeface="Inter" pitchFamily="34" charset="-122"/>
                <a:cs typeface="Inter" pitchFamily="34" charset="-120"/>
              </a:rPr>
              <a:t>Un coach suit 3 à 30 combattants. Il note tout sur son téléphone, dans sa tête, ou nulle part.</a:t>
            </a:r>
            <a:endParaRPr lang="en-US" sz="1600" dirty="0"/>
          </a:p>
        </p:txBody>
      </p:sp>
      <p:sp>
        <p:nvSpPr>
          <p:cNvPr id="5" name="Text 3"/>
          <p:cNvSpPr/>
          <p:nvPr/>
        </p:nvSpPr>
        <p:spPr>
          <a:xfrm>
            <a:off x="548640" y="2029968"/>
            <a:ext cx="8046720" cy="365760"/>
          </a:xfrm>
          <a:prstGeom prst="rect">
            <a:avLst/>
          </a:prstGeom>
          <a:noFill/>
          <a:ln/>
        </p:spPr>
        <p:txBody>
          <a:bodyPr wrap="square" lIns="0" tIns="0" rIns="0" bIns="0" rtlCol="0" anchor="ctr"/>
          <a:lstStyle/>
          <a:p>
            <a:pPr indent="0" marL="0">
              <a:buNone/>
            </a:pPr>
            <a:r>
              <a:rPr lang="en-US" sz="1500" dirty="0">
                <a:solidFill>
                  <a:srgbClr val="BDB8AE"/>
                </a:solidFill>
                <a:latin typeface="Inter" pitchFamily="34" charset="0"/>
                <a:ea typeface="Inter" pitchFamily="34" charset="-122"/>
                <a:cs typeface="Inter" pitchFamily="34" charset="-120"/>
              </a:rPr>
              <a:t>Résultat : il rate les </a:t>
            </a:r>
            <a:pPr indent="0" marL="0">
              <a:buNone/>
            </a:pPr>
            <a:r>
              <a:rPr lang="en-US" sz="1500" b="1" dirty="0">
                <a:solidFill>
                  <a:srgbClr val="E23B43"/>
                </a:solidFill>
                <a:latin typeface="Inter" pitchFamily="34" charset="0"/>
                <a:ea typeface="Inter" pitchFamily="34" charset="-122"/>
                <a:cs typeface="Inter" pitchFamily="34" charset="-120"/>
              </a:rPr>
              <a:t>signaux faibles</a:t>
            </a:r>
            <a:pPr indent="0" marL="0">
              <a:buNone/>
            </a:pPr>
            <a:r>
              <a:rPr lang="en-US" sz="1500" dirty="0">
                <a:solidFill>
                  <a:srgbClr val="BDB8AE"/>
                </a:solidFill>
                <a:latin typeface="Inter" pitchFamily="34" charset="0"/>
                <a:ea typeface="Inter" pitchFamily="34" charset="-122"/>
                <a:cs typeface="Inter" pitchFamily="34" charset="-120"/>
              </a:rPr>
              <a:t>.</a:t>
            </a:r>
            <a:endParaRPr lang="en-US" sz="1500" dirty="0"/>
          </a:p>
        </p:txBody>
      </p:sp>
      <p:sp>
        <p:nvSpPr>
          <p:cNvPr id="6" name="Shape 4"/>
          <p:cNvSpPr/>
          <p:nvPr/>
        </p:nvSpPr>
        <p:spPr>
          <a:xfrm>
            <a:off x="548640" y="2743200"/>
            <a:ext cx="2468880" cy="1783080"/>
          </a:xfrm>
          <a:prstGeom prst="roundRect">
            <a:avLst>
              <a:gd name="adj" fmla="val 3077"/>
            </a:avLst>
          </a:prstGeom>
          <a:solidFill>
            <a:srgbClr val="33333D"/>
          </a:solidFill>
          <a:ln w="12700">
            <a:solidFill>
              <a:srgbClr val="5A2A2E"/>
            </a:solidFill>
            <a:prstDash val="solid"/>
          </a:ln>
          <a:effectLst>
            <a:outerShdw sx="100000" sy="100000" kx="0" ky="0" algn="bl" rotWithShape="0" blurRad="114300" dist="38100" dir="5400000">
              <a:srgbClr val="000000">
                <a:alpha val="50000"/>
              </a:srgbClr>
            </a:outerShdw>
          </a:effectLst>
        </p:spPr>
      </p:sp>
      <p:sp>
        <p:nvSpPr>
          <p:cNvPr id="7" name="Shape 5"/>
          <p:cNvSpPr/>
          <p:nvPr/>
        </p:nvSpPr>
        <p:spPr>
          <a:xfrm>
            <a:off x="804672" y="2999232"/>
            <a:ext cx="566928" cy="566928"/>
          </a:xfrm>
          <a:prstGeom prst="ellipse">
            <a:avLst/>
          </a:prstGeom>
          <a:solidFill>
            <a:srgbClr val="33333D"/>
          </a:solidFill>
          <a:ln w="22225">
            <a:solidFill>
              <a:srgbClr val="C1121F"/>
            </a:solidFill>
            <a:prstDash val="solid"/>
          </a:ln>
        </p:spPr>
      </p:sp>
      <p:pic>
        <p:nvPicPr>
          <p:cNvPr id="8" name="Image 0" descr="preencoded.png">    </p:cNvPr>
          <p:cNvPicPr>
            <a:picLocks noChangeAspect="1"/>
          </p:cNvPicPr>
          <p:nvPr/>
        </p:nvPicPr>
        <p:blipFill>
          <a:blip r:embed="rId1"/>
          <a:stretch>
            <a:fillRect/>
          </a:stretch>
        </p:blipFill>
        <p:spPr>
          <a:xfrm>
            <a:off x="957743" y="3152303"/>
            <a:ext cx="260787" cy="260787"/>
          </a:xfrm>
          <a:prstGeom prst="rect">
            <a:avLst/>
          </a:prstGeom>
        </p:spPr>
      </p:pic>
      <p:sp>
        <p:nvSpPr>
          <p:cNvPr id="9" name="Text 6"/>
          <p:cNvSpPr/>
          <p:nvPr/>
        </p:nvSpPr>
        <p:spPr>
          <a:xfrm>
            <a:off x="804672" y="3730752"/>
            <a:ext cx="2057400" cy="292608"/>
          </a:xfrm>
          <a:prstGeom prst="rect">
            <a:avLst/>
          </a:prstGeom>
          <a:noFill/>
          <a:ln/>
        </p:spPr>
        <p:txBody>
          <a:bodyPr wrap="square" lIns="0" tIns="0" rIns="0" bIns="0" rtlCol="0" anchor="ctr"/>
          <a:lstStyle/>
          <a:p>
            <a:pPr indent="0" marL="0">
              <a:buNone/>
            </a:pPr>
            <a:r>
              <a:rPr lang="en-US" sz="1400" b="1" dirty="0">
                <a:solidFill>
                  <a:srgbClr val="F5F2EA"/>
                </a:solidFill>
                <a:latin typeface="Inter" pitchFamily="34" charset="0"/>
                <a:ea typeface="Inter" pitchFamily="34" charset="-122"/>
                <a:cs typeface="Inter" pitchFamily="34" charset="-120"/>
              </a:rPr>
              <a:t>Mental en baisse</a:t>
            </a:r>
            <a:endParaRPr lang="en-US" sz="1400" dirty="0"/>
          </a:p>
        </p:txBody>
      </p:sp>
      <p:sp>
        <p:nvSpPr>
          <p:cNvPr id="10" name="Text 7"/>
          <p:cNvSpPr/>
          <p:nvPr/>
        </p:nvSpPr>
        <p:spPr>
          <a:xfrm>
            <a:off x="804672" y="4059936"/>
            <a:ext cx="2057400" cy="411480"/>
          </a:xfrm>
          <a:prstGeom prst="rect">
            <a:avLst/>
          </a:prstGeom>
          <a:noFill/>
          <a:ln/>
        </p:spPr>
        <p:txBody>
          <a:bodyPr wrap="square" lIns="0" tIns="0" rIns="0" bIns="0" rtlCol="0" anchor="ctr"/>
          <a:lstStyle/>
          <a:p>
            <a:pPr indent="0" marL="0">
              <a:buNone/>
            </a:pPr>
            <a:r>
              <a:rPr lang="en-US" sz="1150" dirty="0">
                <a:solidFill>
                  <a:srgbClr val="BDB8AE"/>
                </a:solidFill>
                <a:latin typeface="Inter" pitchFamily="34" charset="0"/>
                <a:ea typeface="Inter" pitchFamily="34" charset="-122"/>
                <a:cs typeface="Inter" pitchFamily="34" charset="-120"/>
              </a:rPr>
              <a:t>Une baisse de moral repérée trop tard.</a:t>
            </a:r>
            <a:endParaRPr lang="en-US" sz="1150" dirty="0"/>
          </a:p>
        </p:txBody>
      </p:sp>
      <p:sp>
        <p:nvSpPr>
          <p:cNvPr id="11" name="Shape 8"/>
          <p:cNvSpPr/>
          <p:nvPr/>
        </p:nvSpPr>
        <p:spPr>
          <a:xfrm>
            <a:off x="3337560" y="2743200"/>
            <a:ext cx="2468880" cy="1783080"/>
          </a:xfrm>
          <a:prstGeom prst="roundRect">
            <a:avLst>
              <a:gd name="adj" fmla="val 3077"/>
            </a:avLst>
          </a:prstGeom>
          <a:solidFill>
            <a:srgbClr val="33333D"/>
          </a:solidFill>
          <a:ln w="12700">
            <a:solidFill>
              <a:srgbClr val="5A2A2E"/>
            </a:solidFill>
            <a:prstDash val="solid"/>
          </a:ln>
          <a:effectLst>
            <a:outerShdw sx="100000" sy="100000" kx="0" ky="0" algn="bl" rotWithShape="0" blurRad="114300" dist="38100" dir="5400000">
              <a:srgbClr val="000000">
                <a:alpha val="50000"/>
              </a:srgbClr>
            </a:outerShdw>
          </a:effectLst>
        </p:spPr>
      </p:sp>
      <p:sp>
        <p:nvSpPr>
          <p:cNvPr id="12" name="Shape 9"/>
          <p:cNvSpPr/>
          <p:nvPr/>
        </p:nvSpPr>
        <p:spPr>
          <a:xfrm>
            <a:off x="3593592" y="2999232"/>
            <a:ext cx="566928" cy="566928"/>
          </a:xfrm>
          <a:prstGeom prst="ellipse">
            <a:avLst/>
          </a:prstGeom>
          <a:solidFill>
            <a:srgbClr val="33333D"/>
          </a:solidFill>
          <a:ln w="22225">
            <a:solidFill>
              <a:srgbClr val="C1121F"/>
            </a:solidFill>
            <a:prstDash val="solid"/>
          </a:ln>
        </p:spPr>
      </p:sp>
      <p:pic>
        <p:nvPicPr>
          <p:cNvPr id="13" name="Image 1" descr="preencoded.png">    </p:cNvPr>
          <p:cNvPicPr>
            <a:picLocks noChangeAspect="1"/>
          </p:cNvPicPr>
          <p:nvPr/>
        </p:nvPicPr>
        <p:blipFill>
          <a:blip r:embed="rId2"/>
          <a:stretch>
            <a:fillRect/>
          </a:stretch>
        </p:blipFill>
        <p:spPr>
          <a:xfrm>
            <a:off x="3746663" y="3152303"/>
            <a:ext cx="260787" cy="260787"/>
          </a:xfrm>
          <a:prstGeom prst="rect">
            <a:avLst/>
          </a:prstGeom>
        </p:spPr>
      </p:pic>
      <p:sp>
        <p:nvSpPr>
          <p:cNvPr id="14" name="Text 10"/>
          <p:cNvSpPr/>
          <p:nvPr/>
        </p:nvSpPr>
        <p:spPr>
          <a:xfrm>
            <a:off x="3593592" y="3730752"/>
            <a:ext cx="2057400" cy="292608"/>
          </a:xfrm>
          <a:prstGeom prst="rect">
            <a:avLst/>
          </a:prstGeom>
          <a:noFill/>
          <a:ln/>
        </p:spPr>
        <p:txBody>
          <a:bodyPr wrap="square" lIns="0" tIns="0" rIns="0" bIns="0" rtlCol="0" anchor="ctr"/>
          <a:lstStyle/>
          <a:p>
            <a:pPr indent="0" marL="0">
              <a:buNone/>
            </a:pPr>
            <a:r>
              <a:rPr lang="en-US" sz="1400" b="1" dirty="0">
                <a:solidFill>
                  <a:srgbClr val="F5F2EA"/>
                </a:solidFill>
                <a:latin typeface="Inter" pitchFamily="34" charset="0"/>
                <a:ea typeface="Inter" pitchFamily="34" charset="-122"/>
                <a:cs typeface="Inter" pitchFamily="34" charset="-120"/>
              </a:rPr>
              <a:t>Poids en retard</a:t>
            </a:r>
            <a:endParaRPr lang="en-US" sz="1400" dirty="0"/>
          </a:p>
        </p:txBody>
      </p:sp>
      <p:sp>
        <p:nvSpPr>
          <p:cNvPr id="15" name="Text 11"/>
          <p:cNvSpPr/>
          <p:nvPr/>
        </p:nvSpPr>
        <p:spPr>
          <a:xfrm>
            <a:off x="3593592" y="4059936"/>
            <a:ext cx="2057400" cy="411480"/>
          </a:xfrm>
          <a:prstGeom prst="rect">
            <a:avLst/>
          </a:prstGeom>
          <a:noFill/>
          <a:ln/>
        </p:spPr>
        <p:txBody>
          <a:bodyPr wrap="square" lIns="0" tIns="0" rIns="0" bIns="0" rtlCol="0" anchor="ctr"/>
          <a:lstStyle/>
          <a:p>
            <a:pPr indent="0" marL="0">
              <a:buNone/>
            </a:pPr>
            <a:r>
              <a:rPr lang="en-US" sz="1150" dirty="0">
                <a:solidFill>
                  <a:srgbClr val="BDB8AE"/>
                </a:solidFill>
                <a:latin typeface="Inter" pitchFamily="34" charset="0"/>
                <a:ea typeface="Inter" pitchFamily="34" charset="-122"/>
                <a:cs typeface="Inter" pitchFamily="34" charset="-120"/>
              </a:rPr>
              <a:t>Une catégorie compromise à l'approche du combat.</a:t>
            </a:r>
            <a:endParaRPr lang="en-US" sz="1150" dirty="0"/>
          </a:p>
        </p:txBody>
      </p:sp>
      <p:sp>
        <p:nvSpPr>
          <p:cNvPr id="16" name="Shape 12"/>
          <p:cNvSpPr/>
          <p:nvPr/>
        </p:nvSpPr>
        <p:spPr>
          <a:xfrm>
            <a:off x="6126480" y="2743200"/>
            <a:ext cx="2468880" cy="1783080"/>
          </a:xfrm>
          <a:prstGeom prst="roundRect">
            <a:avLst>
              <a:gd name="adj" fmla="val 3077"/>
            </a:avLst>
          </a:prstGeom>
          <a:solidFill>
            <a:srgbClr val="33333D"/>
          </a:solidFill>
          <a:ln w="12700">
            <a:solidFill>
              <a:srgbClr val="5A2A2E"/>
            </a:solidFill>
            <a:prstDash val="solid"/>
          </a:ln>
          <a:effectLst>
            <a:outerShdw sx="100000" sy="100000" kx="0" ky="0" algn="bl" rotWithShape="0" blurRad="114300" dist="38100" dir="5400000">
              <a:srgbClr val="000000">
                <a:alpha val="50000"/>
              </a:srgbClr>
            </a:outerShdw>
          </a:effectLst>
        </p:spPr>
      </p:sp>
      <p:sp>
        <p:nvSpPr>
          <p:cNvPr id="17" name="Shape 13"/>
          <p:cNvSpPr/>
          <p:nvPr/>
        </p:nvSpPr>
        <p:spPr>
          <a:xfrm>
            <a:off x="6382512" y="2999232"/>
            <a:ext cx="566928" cy="566928"/>
          </a:xfrm>
          <a:prstGeom prst="ellipse">
            <a:avLst/>
          </a:prstGeom>
          <a:solidFill>
            <a:srgbClr val="33333D"/>
          </a:solidFill>
          <a:ln w="22225">
            <a:solidFill>
              <a:srgbClr val="C1121F"/>
            </a:solidFill>
            <a:prstDash val="solid"/>
          </a:ln>
        </p:spPr>
      </p:sp>
      <p:pic>
        <p:nvPicPr>
          <p:cNvPr id="18" name="Image 2" descr="preencoded.png">    </p:cNvPr>
          <p:cNvPicPr>
            <a:picLocks noChangeAspect="1"/>
          </p:cNvPicPr>
          <p:nvPr/>
        </p:nvPicPr>
        <p:blipFill>
          <a:blip r:embed="rId3"/>
          <a:stretch>
            <a:fillRect/>
          </a:stretch>
        </p:blipFill>
        <p:spPr>
          <a:xfrm>
            <a:off x="6535583" y="3152303"/>
            <a:ext cx="260787" cy="260787"/>
          </a:xfrm>
          <a:prstGeom prst="rect">
            <a:avLst/>
          </a:prstGeom>
        </p:spPr>
      </p:pic>
      <p:sp>
        <p:nvSpPr>
          <p:cNvPr id="19" name="Text 14"/>
          <p:cNvSpPr/>
          <p:nvPr/>
        </p:nvSpPr>
        <p:spPr>
          <a:xfrm>
            <a:off x="6382512" y="3730752"/>
            <a:ext cx="2057400" cy="292608"/>
          </a:xfrm>
          <a:prstGeom prst="rect">
            <a:avLst/>
          </a:prstGeom>
          <a:noFill/>
          <a:ln/>
        </p:spPr>
        <p:txBody>
          <a:bodyPr wrap="square" lIns="0" tIns="0" rIns="0" bIns="0" rtlCol="0" anchor="ctr"/>
          <a:lstStyle/>
          <a:p>
            <a:pPr indent="0" marL="0">
              <a:buNone/>
            </a:pPr>
            <a:r>
              <a:rPr lang="en-US" sz="1400" b="1" dirty="0">
                <a:solidFill>
                  <a:srgbClr val="F5F2EA"/>
                </a:solidFill>
                <a:latin typeface="Inter" pitchFamily="34" charset="0"/>
                <a:ea typeface="Inter" pitchFamily="34" charset="-122"/>
                <a:cs typeface="Inter" pitchFamily="34" charset="-120"/>
              </a:rPr>
              <a:t>Blessure qui couve</a:t>
            </a:r>
            <a:endParaRPr lang="en-US" sz="1400" dirty="0"/>
          </a:p>
        </p:txBody>
      </p:sp>
      <p:sp>
        <p:nvSpPr>
          <p:cNvPr id="20" name="Text 15"/>
          <p:cNvSpPr/>
          <p:nvPr/>
        </p:nvSpPr>
        <p:spPr>
          <a:xfrm>
            <a:off x="6382512" y="4059936"/>
            <a:ext cx="2057400" cy="411480"/>
          </a:xfrm>
          <a:prstGeom prst="rect">
            <a:avLst/>
          </a:prstGeom>
          <a:noFill/>
          <a:ln/>
        </p:spPr>
        <p:txBody>
          <a:bodyPr wrap="square" lIns="0" tIns="0" rIns="0" bIns="0" rtlCol="0" anchor="ctr"/>
          <a:lstStyle/>
          <a:p>
            <a:pPr indent="0" marL="0">
              <a:buNone/>
            </a:pPr>
            <a:r>
              <a:rPr lang="en-US" sz="1150" dirty="0">
                <a:solidFill>
                  <a:srgbClr val="BDB8AE"/>
                </a:solidFill>
                <a:latin typeface="Inter" pitchFamily="34" charset="0"/>
                <a:ea typeface="Inter" pitchFamily="34" charset="-122"/>
                <a:cs typeface="Inter" pitchFamily="34" charset="-120"/>
              </a:rPr>
              <a:t>Un signal ignoré qui devient une indisponibilité.</a:t>
            </a:r>
            <a:endParaRPr lang="en-US" sz="1150" dirty="0"/>
          </a:p>
        </p:txBody>
      </p:sp>
      <p:sp>
        <p:nvSpPr>
          <p:cNvPr id="21" name="Text 16"/>
          <p:cNvSpPr/>
          <p:nvPr/>
        </p:nvSpPr>
        <p:spPr>
          <a:xfrm>
            <a:off x="548640" y="4818888"/>
            <a:ext cx="2743200" cy="256032"/>
          </a:xfrm>
          <a:prstGeom prst="rect">
            <a:avLst/>
          </a:prstGeom>
          <a:noFill/>
          <a:ln/>
        </p:spPr>
        <p:txBody>
          <a:bodyPr wrap="square" lIns="0" tIns="0" rIns="0" bIns="0" rtlCol="0" anchor="ctr"/>
          <a:lstStyle/>
          <a:p>
            <a:pPr indent="0" marL="0">
              <a:buNone/>
            </a:pPr>
            <a:r>
              <a:rPr lang="en-US" sz="950" b="1" spc="300" kern="0" dirty="0">
                <a:solidFill>
                  <a:srgbClr val="C9A227"/>
                </a:solidFill>
                <a:latin typeface="Inter" pitchFamily="34" charset="0"/>
                <a:ea typeface="Inter" pitchFamily="34" charset="-122"/>
                <a:cs typeface="Inter" pitchFamily="34" charset="-120"/>
              </a:rPr>
              <a:t>THYMOS</a:t>
            </a:r>
            <a:endParaRPr lang="en-US" sz="950" dirty="0"/>
          </a:p>
        </p:txBody>
      </p:sp>
      <p:sp>
        <p:nvSpPr>
          <p:cNvPr id="22" name="Text 17"/>
          <p:cNvSpPr/>
          <p:nvPr/>
        </p:nvSpPr>
        <p:spPr>
          <a:xfrm>
            <a:off x="5852160" y="4818888"/>
            <a:ext cx="2743200" cy="256032"/>
          </a:xfrm>
          <a:prstGeom prst="rect">
            <a:avLst/>
          </a:prstGeom>
          <a:noFill/>
          <a:ln/>
        </p:spPr>
        <p:txBody>
          <a:bodyPr wrap="square" lIns="0" tIns="0" rIns="0" bIns="0" rtlCol="0" anchor="ctr"/>
          <a:lstStyle/>
          <a:p>
            <a:pPr algn="r" indent="0" marL="0">
              <a:buNone/>
            </a:pPr>
            <a:r>
              <a:rPr lang="en-US" sz="950" dirty="0">
                <a:solidFill>
                  <a:srgbClr val="BDB8AE"/>
                </a:solidFill>
                <a:latin typeface="Inter" pitchFamily="34" charset="0"/>
                <a:ea typeface="Inter" pitchFamily="34" charset="-122"/>
                <a:cs typeface="Inter" pitchFamily="34" charset="-120"/>
              </a:rPr>
              <a:t>02 / 11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6262E"/>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150" b="1" spc="300" kern="0" dirty="0">
                <a:solidFill>
                  <a:srgbClr val="C9A227"/>
                </a:solidFill>
                <a:latin typeface="Inter" pitchFamily="34" charset="0"/>
                <a:ea typeface="Inter" pitchFamily="34" charset="-122"/>
                <a:cs typeface="Inter" pitchFamily="34" charset="-120"/>
              </a:rPr>
              <a:t>02  ·  LA SOLUTION</a:t>
            </a:r>
            <a:endParaRPr lang="en-US" sz="1150" dirty="0"/>
          </a:p>
        </p:txBody>
      </p:sp>
      <p:sp>
        <p:nvSpPr>
          <p:cNvPr id="3" name="Text 1"/>
          <p:cNvSpPr/>
          <p:nvPr/>
        </p:nvSpPr>
        <p:spPr>
          <a:xfrm>
            <a:off x="548640" y="658368"/>
            <a:ext cx="8046720" cy="713232"/>
          </a:xfrm>
          <a:prstGeom prst="rect">
            <a:avLst/>
          </a:prstGeom>
          <a:noFill/>
          <a:ln/>
        </p:spPr>
        <p:txBody>
          <a:bodyPr wrap="square" lIns="0" tIns="0" rIns="0" bIns="0" rtlCol="0" anchor="ctr"/>
          <a:lstStyle/>
          <a:p>
            <a:pPr indent="0" marL="0">
              <a:buNone/>
            </a:pPr>
            <a:r>
              <a:rPr lang="en-US" sz="3000" b="1" spc="100" kern="0" dirty="0">
                <a:solidFill>
                  <a:srgbClr val="F5F2EA"/>
                </a:solidFill>
                <a:latin typeface="Cinzel" pitchFamily="34" charset="0"/>
                <a:ea typeface="Cinzel" pitchFamily="34" charset="-122"/>
                <a:cs typeface="Cinzel" pitchFamily="34" charset="-120"/>
              </a:rPr>
              <a:t>UN SEUL OUTIL</a:t>
            </a:r>
            <a:endParaRPr lang="en-US" sz="3000" dirty="0"/>
          </a:p>
        </p:txBody>
      </p:sp>
      <p:sp>
        <p:nvSpPr>
          <p:cNvPr id="4" name="Text 2"/>
          <p:cNvSpPr/>
          <p:nvPr/>
        </p:nvSpPr>
        <p:spPr>
          <a:xfrm>
            <a:off x="548640" y="1463040"/>
            <a:ext cx="8046720" cy="365760"/>
          </a:xfrm>
          <a:prstGeom prst="rect">
            <a:avLst/>
          </a:prstGeom>
          <a:noFill/>
          <a:ln/>
        </p:spPr>
        <p:txBody>
          <a:bodyPr wrap="square" lIns="0" tIns="0" rIns="0" bIns="0" rtlCol="0" anchor="ctr"/>
          <a:lstStyle/>
          <a:p>
            <a:pPr indent="0" marL="0">
              <a:buNone/>
            </a:pPr>
            <a:r>
              <a:rPr lang="en-US" sz="1600" dirty="0">
                <a:solidFill>
                  <a:srgbClr val="F5F2EA"/>
                </a:solidFill>
                <a:latin typeface="Inter" pitchFamily="34" charset="0"/>
                <a:ea typeface="Inter" pitchFamily="34" charset="-122"/>
                <a:cs typeface="Inter" pitchFamily="34" charset="-120"/>
              </a:rPr>
              <a:t>THYMOS centralise tout le suivi des combattants au même endroit.</a:t>
            </a:r>
            <a:endParaRPr lang="en-US" sz="1600" dirty="0"/>
          </a:p>
        </p:txBody>
      </p:sp>
      <p:sp>
        <p:nvSpPr>
          <p:cNvPr id="5" name="Text 3"/>
          <p:cNvSpPr/>
          <p:nvPr/>
        </p:nvSpPr>
        <p:spPr>
          <a:xfrm>
            <a:off x="548640" y="1920240"/>
            <a:ext cx="8046720" cy="411480"/>
          </a:xfrm>
          <a:prstGeom prst="rect">
            <a:avLst/>
          </a:prstGeom>
          <a:noFill/>
          <a:ln/>
        </p:spPr>
        <p:txBody>
          <a:bodyPr wrap="square" lIns="0" tIns="0" rIns="0" bIns="0" rtlCol="0" anchor="ctr"/>
          <a:lstStyle/>
          <a:p>
            <a:pPr indent="0" marL="0">
              <a:buNone/>
            </a:pPr>
            <a:r>
              <a:rPr lang="en-US" sz="1900" b="1" dirty="0">
                <a:solidFill>
                  <a:srgbClr val="C9A227"/>
                </a:solidFill>
                <a:latin typeface="Cinzel" pitchFamily="34" charset="0"/>
                <a:ea typeface="Cinzel" pitchFamily="34" charset="-122"/>
                <a:cs typeface="Cinzel" pitchFamily="34" charset="-120"/>
              </a:rPr>
              <a:t>Le premier outil de gestion pensé </a:t>
            </a:r>
            <a:pPr indent="0" marL="0">
              <a:buNone/>
            </a:pPr>
            <a:r>
              <a:rPr lang="en-US" sz="1900" b="1" dirty="0">
                <a:solidFill>
                  <a:srgbClr val="E23B43"/>
                </a:solidFill>
                <a:latin typeface="Cinzel" pitchFamily="34" charset="0"/>
                <a:ea typeface="Cinzel" pitchFamily="34" charset="-122"/>
                <a:cs typeface="Cinzel" pitchFamily="34" charset="-120"/>
              </a:rPr>
              <a:t>POUR le MMA</a:t>
            </a:r>
            <a:pPr indent="0" marL="0">
              <a:buNone/>
            </a:pPr>
            <a:r>
              <a:rPr lang="en-US" sz="1900" b="1" dirty="0">
                <a:solidFill>
                  <a:srgbClr val="C9A227"/>
                </a:solidFill>
                <a:latin typeface="Cinzel" pitchFamily="34" charset="0"/>
                <a:ea typeface="Cinzel" pitchFamily="34" charset="-122"/>
                <a:cs typeface="Cinzel" pitchFamily="34" charset="-120"/>
              </a:rPr>
              <a:t>.</a:t>
            </a:r>
            <a:endParaRPr lang="en-US" sz="1900" dirty="0"/>
          </a:p>
        </p:txBody>
      </p:sp>
      <p:sp>
        <p:nvSpPr>
          <p:cNvPr id="6" name="Text 4"/>
          <p:cNvSpPr/>
          <p:nvPr/>
        </p:nvSpPr>
        <p:spPr>
          <a:xfrm>
            <a:off x="548640" y="2395728"/>
            <a:ext cx="8046720" cy="320040"/>
          </a:xfrm>
          <a:prstGeom prst="rect">
            <a:avLst/>
          </a:prstGeom>
          <a:noFill/>
          <a:ln/>
        </p:spPr>
        <p:txBody>
          <a:bodyPr wrap="square" lIns="0" tIns="0" rIns="0" bIns="0" rtlCol="0" anchor="ctr"/>
          <a:lstStyle/>
          <a:p>
            <a:pPr indent="0" marL="0">
              <a:buNone/>
            </a:pPr>
            <a:r>
              <a:rPr lang="en-US" sz="1250" i="1" dirty="0">
                <a:solidFill>
                  <a:srgbClr val="BDB8AE"/>
                </a:solidFill>
                <a:latin typeface="Inter" pitchFamily="34" charset="0"/>
                <a:ea typeface="Inter" pitchFamily="34" charset="-122"/>
                <a:cs typeface="Inter" pitchFamily="34" charset="-120"/>
              </a:rPr>
              <a:t>Pas une application fitness générique adaptée au combat.</a:t>
            </a:r>
            <a:endParaRPr lang="en-US" sz="1250" dirty="0"/>
          </a:p>
        </p:txBody>
      </p:sp>
      <p:sp>
        <p:nvSpPr>
          <p:cNvPr id="7" name="Shape 5"/>
          <p:cNvSpPr/>
          <p:nvPr/>
        </p:nvSpPr>
        <p:spPr>
          <a:xfrm>
            <a:off x="548640" y="3063240"/>
            <a:ext cx="1150620" cy="1371600"/>
          </a:xfrm>
          <a:prstGeom prst="roundRect">
            <a:avLst>
              <a:gd name="adj" fmla="val 4768"/>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8" name="Shape 6"/>
          <p:cNvSpPr/>
          <p:nvPr/>
        </p:nvSpPr>
        <p:spPr>
          <a:xfrm>
            <a:off x="895350" y="3291840"/>
            <a:ext cx="457200" cy="457200"/>
          </a:xfrm>
          <a:prstGeom prst="ellipse">
            <a:avLst/>
          </a:prstGeom>
          <a:solidFill>
            <a:srgbClr val="33333D"/>
          </a:solidFill>
          <a:ln w="22225">
            <a:solidFill>
              <a:srgbClr val="C9A227"/>
            </a:solidFill>
            <a:prstDash val="solid"/>
          </a:ln>
        </p:spPr>
      </p:sp>
      <p:pic>
        <p:nvPicPr>
          <p:cNvPr id="9" name="Image 0" descr="preencoded.png">    </p:cNvPr>
          <p:cNvPicPr>
            <a:picLocks noChangeAspect="1"/>
          </p:cNvPicPr>
          <p:nvPr/>
        </p:nvPicPr>
        <p:blipFill>
          <a:blip r:embed="rId1"/>
          <a:stretch>
            <a:fillRect/>
          </a:stretch>
        </p:blipFill>
        <p:spPr>
          <a:xfrm>
            <a:off x="1018794" y="3415284"/>
            <a:ext cx="210312" cy="210312"/>
          </a:xfrm>
          <a:prstGeom prst="rect">
            <a:avLst/>
          </a:prstGeom>
        </p:spPr>
      </p:pic>
      <p:sp>
        <p:nvSpPr>
          <p:cNvPr id="10" name="Text 7"/>
          <p:cNvSpPr/>
          <p:nvPr/>
        </p:nvSpPr>
        <p:spPr>
          <a:xfrm>
            <a:off x="548640" y="3931920"/>
            <a:ext cx="1150620" cy="365760"/>
          </a:xfrm>
          <a:prstGeom prst="rect">
            <a:avLst/>
          </a:prstGeom>
          <a:noFill/>
          <a:ln/>
        </p:spPr>
        <p:txBody>
          <a:bodyPr wrap="square" lIns="0" tIns="0" rIns="0" bIns="0" rtlCol="0" anchor="ctr"/>
          <a:lstStyle/>
          <a:p>
            <a:pPr algn="ctr" indent="0" marL="0">
              <a:buNone/>
            </a:pPr>
            <a:r>
              <a:rPr lang="en-US" sz="1200" b="1" dirty="0">
                <a:solidFill>
                  <a:srgbClr val="F5F2EA"/>
                </a:solidFill>
                <a:latin typeface="Inter" pitchFamily="34" charset="0"/>
                <a:ea typeface="Inter" pitchFamily="34" charset="-122"/>
                <a:cs typeface="Inter" pitchFamily="34" charset="-120"/>
              </a:rPr>
              <a:t>Physique</a:t>
            </a:r>
            <a:endParaRPr lang="en-US" sz="1200" dirty="0"/>
          </a:p>
        </p:txBody>
      </p:sp>
      <p:sp>
        <p:nvSpPr>
          <p:cNvPr id="11" name="Shape 8"/>
          <p:cNvSpPr/>
          <p:nvPr/>
        </p:nvSpPr>
        <p:spPr>
          <a:xfrm>
            <a:off x="1927860" y="3063240"/>
            <a:ext cx="1150620" cy="1371600"/>
          </a:xfrm>
          <a:prstGeom prst="roundRect">
            <a:avLst>
              <a:gd name="adj" fmla="val 4768"/>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2" name="Shape 9"/>
          <p:cNvSpPr/>
          <p:nvPr/>
        </p:nvSpPr>
        <p:spPr>
          <a:xfrm>
            <a:off x="2274570" y="3291840"/>
            <a:ext cx="457200" cy="457200"/>
          </a:xfrm>
          <a:prstGeom prst="ellipse">
            <a:avLst/>
          </a:prstGeom>
          <a:solidFill>
            <a:srgbClr val="33333D"/>
          </a:solidFill>
          <a:ln w="22225">
            <a:solidFill>
              <a:srgbClr val="C9A227"/>
            </a:solidFill>
            <a:prstDash val="solid"/>
          </a:ln>
        </p:spPr>
      </p:sp>
      <p:pic>
        <p:nvPicPr>
          <p:cNvPr id="13" name="Image 1" descr="preencoded.png">    </p:cNvPr>
          <p:cNvPicPr>
            <a:picLocks noChangeAspect="1"/>
          </p:cNvPicPr>
          <p:nvPr/>
        </p:nvPicPr>
        <p:blipFill>
          <a:blip r:embed="rId2"/>
          <a:stretch>
            <a:fillRect/>
          </a:stretch>
        </p:blipFill>
        <p:spPr>
          <a:xfrm>
            <a:off x="2398014" y="3415284"/>
            <a:ext cx="210312" cy="210312"/>
          </a:xfrm>
          <a:prstGeom prst="rect">
            <a:avLst/>
          </a:prstGeom>
        </p:spPr>
      </p:pic>
      <p:sp>
        <p:nvSpPr>
          <p:cNvPr id="14" name="Text 10"/>
          <p:cNvSpPr/>
          <p:nvPr/>
        </p:nvSpPr>
        <p:spPr>
          <a:xfrm>
            <a:off x="1927860" y="3931920"/>
            <a:ext cx="1150620" cy="365760"/>
          </a:xfrm>
          <a:prstGeom prst="rect">
            <a:avLst/>
          </a:prstGeom>
          <a:noFill/>
          <a:ln/>
        </p:spPr>
        <p:txBody>
          <a:bodyPr wrap="square" lIns="0" tIns="0" rIns="0" bIns="0" rtlCol="0" anchor="ctr"/>
          <a:lstStyle/>
          <a:p>
            <a:pPr algn="ctr" indent="0" marL="0">
              <a:buNone/>
            </a:pPr>
            <a:r>
              <a:rPr lang="en-US" sz="1200" b="1" dirty="0">
                <a:solidFill>
                  <a:srgbClr val="F5F2EA"/>
                </a:solidFill>
                <a:latin typeface="Inter" pitchFamily="34" charset="0"/>
                <a:ea typeface="Inter" pitchFamily="34" charset="-122"/>
                <a:cs typeface="Inter" pitchFamily="34" charset="-120"/>
              </a:rPr>
              <a:t>Mental</a:t>
            </a:r>
            <a:endParaRPr lang="en-US" sz="1200" dirty="0"/>
          </a:p>
        </p:txBody>
      </p:sp>
      <p:sp>
        <p:nvSpPr>
          <p:cNvPr id="15" name="Shape 11"/>
          <p:cNvSpPr/>
          <p:nvPr/>
        </p:nvSpPr>
        <p:spPr>
          <a:xfrm>
            <a:off x="3307080" y="3063240"/>
            <a:ext cx="1150620" cy="1371600"/>
          </a:xfrm>
          <a:prstGeom prst="roundRect">
            <a:avLst>
              <a:gd name="adj" fmla="val 4768"/>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6" name="Shape 12"/>
          <p:cNvSpPr/>
          <p:nvPr/>
        </p:nvSpPr>
        <p:spPr>
          <a:xfrm>
            <a:off x="3653790" y="3291840"/>
            <a:ext cx="457200" cy="457200"/>
          </a:xfrm>
          <a:prstGeom prst="ellipse">
            <a:avLst/>
          </a:prstGeom>
          <a:solidFill>
            <a:srgbClr val="33333D"/>
          </a:solidFill>
          <a:ln w="22225">
            <a:solidFill>
              <a:srgbClr val="C9A227"/>
            </a:solidFill>
            <a:prstDash val="solid"/>
          </a:ln>
        </p:spPr>
      </p:sp>
      <p:pic>
        <p:nvPicPr>
          <p:cNvPr id="17" name="Image 2" descr="preencoded.png">    </p:cNvPr>
          <p:cNvPicPr>
            <a:picLocks noChangeAspect="1"/>
          </p:cNvPicPr>
          <p:nvPr/>
        </p:nvPicPr>
        <p:blipFill>
          <a:blip r:embed="rId3"/>
          <a:stretch>
            <a:fillRect/>
          </a:stretch>
        </p:blipFill>
        <p:spPr>
          <a:xfrm>
            <a:off x="3777234" y="3415284"/>
            <a:ext cx="210312" cy="210312"/>
          </a:xfrm>
          <a:prstGeom prst="rect">
            <a:avLst/>
          </a:prstGeom>
        </p:spPr>
      </p:pic>
      <p:sp>
        <p:nvSpPr>
          <p:cNvPr id="18" name="Text 13"/>
          <p:cNvSpPr/>
          <p:nvPr/>
        </p:nvSpPr>
        <p:spPr>
          <a:xfrm>
            <a:off x="3307080" y="3931920"/>
            <a:ext cx="1150620" cy="365760"/>
          </a:xfrm>
          <a:prstGeom prst="rect">
            <a:avLst/>
          </a:prstGeom>
          <a:noFill/>
          <a:ln/>
        </p:spPr>
        <p:txBody>
          <a:bodyPr wrap="square" lIns="0" tIns="0" rIns="0" bIns="0" rtlCol="0" anchor="ctr"/>
          <a:lstStyle/>
          <a:p>
            <a:pPr algn="ctr" indent="0" marL="0">
              <a:buNone/>
            </a:pPr>
            <a:r>
              <a:rPr lang="en-US" sz="1200" b="1" dirty="0">
                <a:solidFill>
                  <a:srgbClr val="F5F2EA"/>
                </a:solidFill>
                <a:latin typeface="Inter" pitchFamily="34" charset="0"/>
                <a:ea typeface="Inter" pitchFamily="34" charset="-122"/>
                <a:cs typeface="Inter" pitchFamily="34" charset="-120"/>
              </a:rPr>
              <a:t>Combats</a:t>
            </a:r>
            <a:endParaRPr lang="en-US" sz="1200" dirty="0"/>
          </a:p>
        </p:txBody>
      </p:sp>
      <p:sp>
        <p:nvSpPr>
          <p:cNvPr id="19" name="Shape 14"/>
          <p:cNvSpPr/>
          <p:nvPr/>
        </p:nvSpPr>
        <p:spPr>
          <a:xfrm>
            <a:off x="4686300" y="3063240"/>
            <a:ext cx="1150620" cy="1371600"/>
          </a:xfrm>
          <a:prstGeom prst="roundRect">
            <a:avLst>
              <a:gd name="adj" fmla="val 4768"/>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20" name="Shape 15"/>
          <p:cNvSpPr/>
          <p:nvPr/>
        </p:nvSpPr>
        <p:spPr>
          <a:xfrm>
            <a:off x="5033010" y="3291840"/>
            <a:ext cx="457200" cy="457200"/>
          </a:xfrm>
          <a:prstGeom prst="ellipse">
            <a:avLst/>
          </a:prstGeom>
          <a:solidFill>
            <a:srgbClr val="33333D"/>
          </a:solidFill>
          <a:ln w="22225">
            <a:solidFill>
              <a:srgbClr val="C9A227"/>
            </a:solidFill>
            <a:prstDash val="solid"/>
          </a:ln>
        </p:spPr>
      </p:sp>
      <p:pic>
        <p:nvPicPr>
          <p:cNvPr id="21" name="Image 3" descr="preencoded.png">    </p:cNvPr>
          <p:cNvPicPr>
            <a:picLocks noChangeAspect="1"/>
          </p:cNvPicPr>
          <p:nvPr/>
        </p:nvPicPr>
        <p:blipFill>
          <a:blip r:embed="rId4"/>
          <a:stretch>
            <a:fillRect/>
          </a:stretch>
        </p:blipFill>
        <p:spPr>
          <a:xfrm>
            <a:off x="5156454" y="3415284"/>
            <a:ext cx="210312" cy="210312"/>
          </a:xfrm>
          <a:prstGeom prst="rect">
            <a:avLst/>
          </a:prstGeom>
        </p:spPr>
      </p:pic>
      <p:sp>
        <p:nvSpPr>
          <p:cNvPr id="22" name="Text 16"/>
          <p:cNvSpPr/>
          <p:nvPr/>
        </p:nvSpPr>
        <p:spPr>
          <a:xfrm>
            <a:off x="4686300" y="3931920"/>
            <a:ext cx="1150620" cy="365760"/>
          </a:xfrm>
          <a:prstGeom prst="rect">
            <a:avLst/>
          </a:prstGeom>
          <a:noFill/>
          <a:ln/>
        </p:spPr>
        <p:txBody>
          <a:bodyPr wrap="square" lIns="0" tIns="0" rIns="0" bIns="0" rtlCol="0" anchor="ctr"/>
          <a:lstStyle/>
          <a:p>
            <a:pPr algn="ctr" indent="0" marL="0">
              <a:buNone/>
            </a:pPr>
            <a:r>
              <a:rPr lang="en-US" sz="1200" b="1" dirty="0">
                <a:solidFill>
                  <a:srgbClr val="F5F2EA"/>
                </a:solidFill>
                <a:latin typeface="Inter" pitchFamily="34" charset="0"/>
                <a:ea typeface="Inter" pitchFamily="34" charset="-122"/>
                <a:cs typeface="Inter" pitchFamily="34" charset="-120"/>
              </a:rPr>
              <a:t>Planning</a:t>
            </a:r>
            <a:endParaRPr lang="en-US" sz="1200" dirty="0"/>
          </a:p>
        </p:txBody>
      </p:sp>
      <p:sp>
        <p:nvSpPr>
          <p:cNvPr id="23" name="Shape 17"/>
          <p:cNvSpPr/>
          <p:nvPr/>
        </p:nvSpPr>
        <p:spPr>
          <a:xfrm>
            <a:off x="6065520" y="3063240"/>
            <a:ext cx="1150620" cy="1371600"/>
          </a:xfrm>
          <a:prstGeom prst="roundRect">
            <a:avLst>
              <a:gd name="adj" fmla="val 4768"/>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24" name="Shape 18"/>
          <p:cNvSpPr/>
          <p:nvPr/>
        </p:nvSpPr>
        <p:spPr>
          <a:xfrm>
            <a:off x="6412230" y="3291840"/>
            <a:ext cx="457200" cy="457200"/>
          </a:xfrm>
          <a:prstGeom prst="ellipse">
            <a:avLst/>
          </a:prstGeom>
          <a:solidFill>
            <a:srgbClr val="33333D"/>
          </a:solidFill>
          <a:ln w="22225">
            <a:solidFill>
              <a:srgbClr val="C9A227"/>
            </a:solidFill>
            <a:prstDash val="solid"/>
          </a:ln>
        </p:spPr>
      </p:sp>
      <p:pic>
        <p:nvPicPr>
          <p:cNvPr id="25" name="Image 4" descr="preencoded.png">    </p:cNvPr>
          <p:cNvPicPr>
            <a:picLocks noChangeAspect="1"/>
          </p:cNvPicPr>
          <p:nvPr/>
        </p:nvPicPr>
        <p:blipFill>
          <a:blip r:embed="rId5"/>
          <a:stretch>
            <a:fillRect/>
          </a:stretch>
        </p:blipFill>
        <p:spPr>
          <a:xfrm>
            <a:off x="6535674" y="3415284"/>
            <a:ext cx="210312" cy="210312"/>
          </a:xfrm>
          <a:prstGeom prst="rect">
            <a:avLst/>
          </a:prstGeom>
        </p:spPr>
      </p:pic>
      <p:sp>
        <p:nvSpPr>
          <p:cNvPr id="26" name="Text 19"/>
          <p:cNvSpPr/>
          <p:nvPr/>
        </p:nvSpPr>
        <p:spPr>
          <a:xfrm>
            <a:off x="6065520" y="3931920"/>
            <a:ext cx="1150620" cy="365760"/>
          </a:xfrm>
          <a:prstGeom prst="rect">
            <a:avLst/>
          </a:prstGeom>
          <a:noFill/>
          <a:ln/>
        </p:spPr>
        <p:txBody>
          <a:bodyPr wrap="square" lIns="0" tIns="0" rIns="0" bIns="0" rtlCol="0" anchor="ctr"/>
          <a:lstStyle/>
          <a:p>
            <a:pPr algn="ctr" indent="0" marL="0">
              <a:buNone/>
            </a:pPr>
            <a:r>
              <a:rPr lang="en-US" sz="1200" b="1" dirty="0">
                <a:solidFill>
                  <a:srgbClr val="F5F2EA"/>
                </a:solidFill>
                <a:latin typeface="Inter" pitchFamily="34" charset="0"/>
                <a:ea typeface="Inter" pitchFamily="34" charset="-122"/>
                <a:cs typeface="Inter" pitchFamily="34" charset="-120"/>
              </a:rPr>
              <a:t>Blessures</a:t>
            </a:r>
            <a:endParaRPr lang="en-US" sz="1200" dirty="0"/>
          </a:p>
        </p:txBody>
      </p:sp>
      <p:sp>
        <p:nvSpPr>
          <p:cNvPr id="27" name="Shape 20"/>
          <p:cNvSpPr/>
          <p:nvPr/>
        </p:nvSpPr>
        <p:spPr>
          <a:xfrm>
            <a:off x="7444740" y="3063240"/>
            <a:ext cx="1150620" cy="1371600"/>
          </a:xfrm>
          <a:prstGeom prst="roundRect">
            <a:avLst>
              <a:gd name="adj" fmla="val 4768"/>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28" name="Shape 21"/>
          <p:cNvSpPr/>
          <p:nvPr/>
        </p:nvSpPr>
        <p:spPr>
          <a:xfrm>
            <a:off x="7791450" y="3291840"/>
            <a:ext cx="457200" cy="457200"/>
          </a:xfrm>
          <a:prstGeom prst="ellipse">
            <a:avLst/>
          </a:prstGeom>
          <a:solidFill>
            <a:srgbClr val="33333D"/>
          </a:solidFill>
          <a:ln w="22225">
            <a:solidFill>
              <a:srgbClr val="C9A227"/>
            </a:solidFill>
            <a:prstDash val="solid"/>
          </a:ln>
        </p:spPr>
      </p:sp>
      <p:pic>
        <p:nvPicPr>
          <p:cNvPr id="29" name="Image 5" descr="preencoded.png">    </p:cNvPr>
          <p:cNvPicPr>
            <a:picLocks noChangeAspect="1"/>
          </p:cNvPicPr>
          <p:nvPr/>
        </p:nvPicPr>
        <p:blipFill>
          <a:blip r:embed="rId6"/>
          <a:stretch>
            <a:fillRect/>
          </a:stretch>
        </p:blipFill>
        <p:spPr>
          <a:xfrm>
            <a:off x="7914894" y="3415284"/>
            <a:ext cx="210312" cy="210312"/>
          </a:xfrm>
          <a:prstGeom prst="rect">
            <a:avLst/>
          </a:prstGeom>
        </p:spPr>
      </p:pic>
      <p:sp>
        <p:nvSpPr>
          <p:cNvPr id="30" name="Text 22"/>
          <p:cNvSpPr/>
          <p:nvPr/>
        </p:nvSpPr>
        <p:spPr>
          <a:xfrm>
            <a:off x="7444740" y="3931920"/>
            <a:ext cx="1150620" cy="365760"/>
          </a:xfrm>
          <a:prstGeom prst="rect">
            <a:avLst/>
          </a:prstGeom>
          <a:noFill/>
          <a:ln/>
        </p:spPr>
        <p:txBody>
          <a:bodyPr wrap="square" lIns="0" tIns="0" rIns="0" bIns="0" rtlCol="0" anchor="ctr"/>
          <a:lstStyle/>
          <a:p>
            <a:pPr algn="ctr" indent="0" marL="0">
              <a:buNone/>
            </a:pPr>
            <a:r>
              <a:rPr lang="en-US" sz="1200" b="1" dirty="0">
                <a:solidFill>
                  <a:srgbClr val="F5F2EA"/>
                </a:solidFill>
                <a:latin typeface="Inter" pitchFamily="34" charset="0"/>
                <a:ea typeface="Inter" pitchFamily="34" charset="-122"/>
                <a:cs typeface="Inter" pitchFamily="34" charset="-120"/>
              </a:rPr>
              <a:t>Camps</a:t>
            </a:r>
            <a:endParaRPr lang="en-US" sz="1200" dirty="0"/>
          </a:p>
        </p:txBody>
      </p:sp>
      <p:sp>
        <p:nvSpPr>
          <p:cNvPr id="31" name="Text 23"/>
          <p:cNvSpPr/>
          <p:nvPr/>
        </p:nvSpPr>
        <p:spPr>
          <a:xfrm>
            <a:off x="548640" y="4818888"/>
            <a:ext cx="2743200" cy="256032"/>
          </a:xfrm>
          <a:prstGeom prst="rect">
            <a:avLst/>
          </a:prstGeom>
          <a:noFill/>
          <a:ln/>
        </p:spPr>
        <p:txBody>
          <a:bodyPr wrap="square" lIns="0" tIns="0" rIns="0" bIns="0" rtlCol="0" anchor="ctr"/>
          <a:lstStyle/>
          <a:p>
            <a:pPr indent="0" marL="0">
              <a:buNone/>
            </a:pPr>
            <a:r>
              <a:rPr lang="en-US" sz="950" b="1" spc="300" kern="0" dirty="0">
                <a:solidFill>
                  <a:srgbClr val="C9A227"/>
                </a:solidFill>
                <a:latin typeface="Inter" pitchFamily="34" charset="0"/>
                <a:ea typeface="Inter" pitchFamily="34" charset="-122"/>
                <a:cs typeface="Inter" pitchFamily="34" charset="-120"/>
              </a:rPr>
              <a:t>THYMOS</a:t>
            </a:r>
            <a:endParaRPr lang="en-US" sz="950" dirty="0"/>
          </a:p>
        </p:txBody>
      </p:sp>
      <p:sp>
        <p:nvSpPr>
          <p:cNvPr id="32" name="Text 24"/>
          <p:cNvSpPr/>
          <p:nvPr/>
        </p:nvSpPr>
        <p:spPr>
          <a:xfrm>
            <a:off x="5852160" y="4818888"/>
            <a:ext cx="2743200" cy="256032"/>
          </a:xfrm>
          <a:prstGeom prst="rect">
            <a:avLst/>
          </a:prstGeom>
          <a:noFill/>
          <a:ln/>
        </p:spPr>
        <p:txBody>
          <a:bodyPr wrap="square" lIns="0" tIns="0" rIns="0" bIns="0" rtlCol="0" anchor="ctr"/>
          <a:lstStyle/>
          <a:p>
            <a:pPr algn="r" indent="0" marL="0">
              <a:buNone/>
            </a:pPr>
            <a:r>
              <a:rPr lang="en-US" sz="950" dirty="0">
                <a:solidFill>
                  <a:srgbClr val="BDB8AE"/>
                </a:solidFill>
                <a:latin typeface="Inter" pitchFamily="34" charset="0"/>
                <a:ea typeface="Inter" pitchFamily="34" charset="-122"/>
                <a:cs typeface="Inter" pitchFamily="34" charset="-120"/>
              </a:rPr>
              <a:t>03 / 11</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62E"/>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150" b="1" spc="300" kern="0" dirty="0">
                <a:solidFill>
                  <a:srgbClr val="C9A227"/>
                </a:solidFill>
                <a:latin typeface="Inter" pitchFamily="34" charset="0"/>
                <a:ea typeface="Inter" pitchFamily="34" charset="-122"/>
                <a:cs typeface="Inter" pitchFamily="34" charset="-120"/>
              </a:rPr>
              <a:t>03  ·  PERSONA &amp; PROPOSITION DE VALEUR</a:t>
            </a:r>
            <a:endParaRPr lang="en-US" sz="1150" dirty="0"/>
          </a:p>
        </p:txBody>
      </p:sp>
      <p:sp>
        <p:nvSpPr>
          <p:cNvPr id="3" name="Text 1"/>
          <p:cNvSpPr/>
          <p:nvPr/>
        </p:nvSpPr>
        <p:spPr>
          <a:xfrm>
            <a:off x="548640" y="658368"/>
            <a:ext cx="8046720" cy="713232"/>
          </a:xfrm>
          <a:prstGeom prst="rect">
            <a:avLst/>
          </a:prstGeom>
          <a:noFill/>
          <a:ln/>
        </p:spPr>
        <p:txBody>
          <a:bodyPr wrap="square" lIns="0" tIns="0" rIns="0" bIns="0" rtlCol="0" anchor="ctr"/>
          <a:lstStyle/>
          <a:p>
            <a:pPr indent="0" marL="0">
              <a:buNone/>
            </a:pPr>
            <a:r>
              <a:rPr lang="en-US" sz="2800" b="1" spc="100" kern="0" dirty="0">
                <a:solidFill>
                  <a:srgbClr val="F5F2EA"/>
                </a:solidFill>
                <a:latin typeface="Cinzel" pitchFamily="34" charset="0"/>
                <a:ea typeface="Cinzel" pitchFamily="34" charset="-122"/>
                <a:cs typeface="Cinzel" pitchFamily="34" charset="-120"/>
              </a:rPr>
              <a:t>NOS CLIENTS</a:t>
            </a:r>
            <a:endParaRPr lang="en-US" sz="2800" dirty="0"/>
          </a:p>
        </p:txBody>
      </p:sp>
      <p:sp>
        <p:nvSpPr>
          <p:cNvPr id="4" name="Shape 2"/>
          <p:cNvSpPr/>
          <p:nvPr/>
        </p:nvSpPr>
        <p:spPr>
          <a:xfrm>
            <a:off x="548640" y="1371600"/>
            <a:ext cx="8046720" cy="1097280"/>
          </a:xfrm>
          <a:prstGeom prst="roundRect">
            <a:avLst>
              <a:gd name="adj" fmla="val 5000"/>
            </a:avLst>
          </a:prstGeom>
          <a:solidFill>
            <a:srgbClr val="3C3C48"/>
          </a:solidFill>
          <a:ln w="15875">
            <a:solidFill>
              <a:srgbClr val="C9A227"/>
            </a:solidFill>
            <a:prstDash val="solid"/>
          </a:ln>
          <a:effectLst>
            <a:outerShdw sx="100000" sy="100000" kx="0" ky="0" algn="bl" rotWithShape="0" blurRad="114300" dist="38100" dir="5400000">
              <a:srgbClr val="000000">
                <a:alpha val="50000"/>
              </a:srgbClr>
            </a:outerShdw>
          </a:effectLst>
        </p:spPr>
      </p:sp>
      <p:sp>
        <p:nvSpPr>
          <p:cNvPr id="5" name="Text 3"/>
          <p:cNvSpPr/>
          <p:nvPr/>
        </p:nvSpPr>
        <p:spPr>
          <a:xfrm>
            <a:off x="822960" y="1481328"/>
            <a:ext cx="7498080" cy="877824"/>
          </a:xfrm>
          <a:prstGeom prst="rect">
            <a:avLst/>
          </a:prstGeom>
          <a:noFill/>
          <a:ln/>
        </p:spPr>
        <p:txBody>
          <a:bodyPr wrap="square" lIns="0" tIns="0" rIns="0" bIns="0" rtlCol="0" anchor="ctr"/>
          <a:lstStyle/>
          <a:p>
            <a:pPr indent="0" marL="0">
              <a:lnSpc>
                <a:spcPct val="112000"/>
              </a:lnSpc>
              <a:buNone/>
            </a:pPr>
            <a:r>
              <a:rPr lang="en-US" sz="1450" dirty="0">
                <a:solidFill>
                  <a:srgbClr val="F5F2EA"/>
                </a:solidFill>
                <a:latin typeface="Inter" pitchFamily="34" charset="0"/>
                <a:ea typeface="Inter" pitchFamily="34" charset="-122"/>
                <a:cs typeface="Inter" pitchFamily="34" charset="-120"/>
              </a:rPr>
              <a:t>Pour nos </a:t>
            </a:r>
            <a:pPr indent="0" marL="0">
              <a:lnSpc>
                <a:spcPct val="112000"/>
              </a:lnSpc>
              <a:buNone/>
            </a:pPr>
            <a:r>
              <a:rPr lang="en-US" sz="1450" b="1" dirty="0">
                <a:solidFill>
                  <a:srgbClr val="E6C765"/>
                </a:solidFill>
                <a:latin typeface="Inter" pitchFamily="34" charset="0"/>
                <a:ea typeface="Inter" pitchFamily="34" charset="-122"/>
                <a:cs typeface="Inter" pitchFamily="34" charset="-120"/>
              </a:rPr>
              <a:t>coachs MMA, boxe, JJB qui gèrent 3 à 30 combattants</a:t>
            </a:r>
            <a:pPr indent="0" marL="0">
              <a:lnSpc>
                <a:spcPct val="112000"/>
              </a:lnSpc>
              <a:buNone/>
            </a:pPr>
            <a:r>
              <a:rPr lang="en-US" sz="1450" dirty="0">
                <a:solidFill>
                  <a:srgbClr val="F5F2EA"/>
                </a:solidFill>
                <a:latin typeface="Inter" pitchFamily="34" charset="0"/>
                <a:ea typeface="Inter" pitchFamily="34" charset="-122"/>
                <a:cs typeface="Inter" pitchFamily="34" charset="-120"/>
              </a:rPr>
              <a:t> et veulent </a:t>
            </a:r>
            <a:pPr indent="0" marL="0">
              <a:lnSpc>
                <a:spcPct val="112000"/>
              </a:lnSpc>
              <a:buNone/>
            </a:pPr>
            <a:r>
              <a:rPr lang="en-US" sz="1450" b="1" dirty="0">
                <a:solidFill>
                  <a:srgbClr val="E23B43"/>
                </a:solidFill>
                <a:latin typeface="Inter" pitchFamily="34" charset="0"/>
                <a:ea typeface="Inter" pitchFamily="34" charset="-122"/>
                <a:cs typeface="Inter" pitchFamily="34" charset="-120"/>
              </a:rPr>
              <a:t>ne plus rien rater et gagner du temps</a:t>
            </a:r>
            <a:pPr indent="0" marL="0">
              <a:lnSpc>
                <a:spcPct val="112000"/>
              </a:lnSpc>
              <a:buNone/>
            </a:pPr>
            <a:r>
              <a:rPr lang="en-US" sz="1450" dirty="0">
                <a:solidFill>
                  <a:srgbClr val="F5F2EA"/>
                </a:solidFill>
                <a:latin typeface="Inter" pitchFamily="34" charset="0"/>
                <a:ea typeface="Inter" pitchFamily="34" charset="-122"/>
                <a:cs typeface="Inter" pitchFamily="34" charset="-120"/>
              </a:rPr>
              <a:t>, THYMOS propose </a:t>
            </a:r>
            <a:pPr indent="0" marL="0">
              <a:lnSpc>
                <a:spcPct val="112000"/>
              </a:lnSpc>
              <a:buNone/>
            </a:pPr>
            <a:r>
              <a:rPr lang="en-US" sz="1450" b="1" dirty="0">
                <a:solidFill>
                  <a:srgbClr val="E6C765"/>
                </a:solidFill>
                <a:latin typeface="Inter" pitchFamily="34" charset="0"/>
                <a:ea typeface="Inter" pitchFamily="34" charset="-122"/>
                <a:cs typeface="Inter" pitchFamily="34" charset="-120"/>
              </a:rPr>
              <a:t>le premier outil de gestion pensé pour le MMA</a:t>
            </a:r>
            <a:pPr indent="0" marL="0">
              <a:lnSpc>
                <a:spcPct val="112000"/>
              </a:lnSpc>
              <a:buNone/>
            </a:pPr>
            <a:r>
              <a:rPr lang="en-US" sz="1450" dirty="0">
                <a:solidFill>
                  <a:srgbClr val="F5F2EA"/>
                </a:solidFill>
                <a:latin typeface="Inter" pitchFamily="34" charset="0"/>
                <a:ea typeface="Inter" pitchFamily="34" charset="-122"/>
                <a:cs typeface="Inter" pitchFamily="34" charset="-120"/>
              </a:rPr>
              <a:t>, visant à vendre le premier abonnement Pro à un coach marseillais, puis à s'étendre en France.</a:t>
            </a:r>
            <a:endParaRPr lang="en-US" sz="1450" dirty="0"/>
          </a:p>
        </p:txBody>
      </p:sp>
      <p:sp>
        <p:nvSpPr>
          <p:cNvPr id="6" name="Shape 4"/>
          <p:cNvSpPr/>
          <p:nvPr/>
        </p:nvSpPr>
        <p:spPr>
          <a:xfrm>
            <a:off x="548640" y="2697480"/>
            <a:ext cx="1463040" cy="1645920"/>
          </a:xfrm>
          <a:prstGeom prst="roundRect">
            <a:avLst>
              <a:gd name="adj" fmla="val 3750"/>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7" name="Text 5"/>
          <p:cNvSpPr/>
          <p:nvPr/>
        </p:nvSpPr>
        <p:spPr>
          <a:xfrm>
            <a:off x="658368" y="2843784"/>
            <a:ext cx="1243584" cy="502920"/>
          </a:xfrm>
          <a:prstGeom prst="rect">
            <a:avLst/>
          </a:prstGeom>
          <a:noFill/>
          <a:ln/>
        </p:spPr>
        <p:txBody>
          <a:bodyPr wrap="square" lIns="0" tIns="0" rIns="0" bIns="0" rtlCol="0" anchor="t"/>
          <a:lstStyle/>
          <a:p>
            <a:pPr indent="0" marL="0">
              <a:buNone/>
            </a:pPr>
            <a:r>
              <a:rPr lang="en-US" sz="1050" b="1" spc="100" kern="0" dirty="0">
                <a:solidFill>
                  <a:srgbClr val="C9A227"/>
                </a:solidFill>
                <a:latin typeface="Inter" pitchFamily="34" charset="0"/>
                <a:ea typeface="Inter" pitchFamily="34" charset="-122"/>
                <a:cs typeface="Inter" pitchFamily="34" charset="-120"/>
              </a:rPr>
              <a:t>CLIENTS</a:t>
            </a:r>
            <a:endParaRPr lang="en-US" sz="1050" dirty="0"/>
          </a:p>
        </p:txBody>
      </p:sp>
      <p:sp>
        <p:nvSpPr>
          <p:cNvPr id="8" name="Text 6"/>
          <p:cNvSpPr/>
          <p:nvPr/>
        </p:nvSpPr>
        <p:spPr>
          <a:xfrm>
            <a:off x="658368" y="3264408"/>
            <a:ext cx="1243584" cy="960120"/>
          </a:xfrm>
          <a:prstGeom prst="rect">
            <a:avLst/>
          </a:prstGeom>
          <a:noFill/>
          <a:ln/>
        </p:spPr>
        <p:txBody>
          <a:bodyPr wrap="square" lIns="0" tIns="0" rIns="0" bIns="0" rtlCol="0" anchor="t"/>
          <a:lstStyle/>
          <a:p>
            <a:pPr indent="0" marL="0">
              <a:buNone/>
            </a:pPr>
            <a:r>
              <a:rPr lang="en-US" sz="1100" dirty="0">
                <a:solidFill>
                  <a:srgbClr val="F5F2EA"/>
                </a:solidFill>
                <a:latin typeface="Inter" pitchFamily="34" charset="0"/>
                <a:ea typeface="Inter" pitchFamily="34" charset="-122"/>
                <a:cs typeface="Inter" pitchFamily="34" charset="-120"/>
              </a:rPr>
              <a:t>Coachs MMA, boxe et JJB gérant 3 à 30 combattants.</a:t>
            </a:r>
            <a:endParaRPr lang="en-US" sz="1100" dirty="0"/>
          </a:p>
        </p:txBody>
      </p:sp>
      <p:sp>
        <p:nvSpPr>
          <p:cNvPr id="9" name="Shape 7"/>
          <p:cNvSpPr/>
          <p:nvPr/>
        </p:nvSpPr>
        <p:spPr>
          <a:xfrm>
            <a:off x="2194560" y="2697480"/>
            <a:ext cx="1463040" cy="1645920"/>
          </a:xfrm>
          <a:prstGeom prst="roundRect">
            <a:avLst>
              <a:gd name="adj" fmla="val 3750"/>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0" name="Text 8"/>
          <p:cNvSpPr/>
          <p:nvPr/>
        </p:nvSpPr>
        <p:spPr>
          <a:xfrm>
            <a:off x="2304288" y="2843784"/>
            <a:ext cx="1243584" cy="502920"/>
          </a:xfrm>
          <a:prstGeom prst="rect">
            <a:avLst/>
          </a:prstGeom>
          <a:noFill/>
          <a:ln/>
        </p:spPr>
        <p:txBody>
          <a:bodyPr wrap="square" lIns="0" tIns="0" rIns="0" bIns="0" rtlCol="0" anchor="t"/>
          <a:lstStyle/>
          <a:p>
            <a:pPr indent="0" marL="0">
              <a:buNone/>
            </a:pPr>
            <a:r>
              <a:rPr lang="en-US" sz="1050" b="1" spc="100" kern="0" dirty="0">
                <a:solidFill>
                  <a:srgbClr val="C9A227"/>
                </a:solidFill>
                <a:latin typeface="Inter" pitchFamily="34" charset="0"/>
                <a:ea typeface="Inter" pitchFamily="34" charset="-122"/>
                <a:cs typeface="Inter" pitchFamily="34" charset="-120"/>
              </a:rPr>
              <a:t>BESOINS</a:t>
            </a:r>
            <a:endParaRPr lang="en-US" sz="1050" dirty="0"/>
          </a:p>
        </p:txBody>
      </p:sp>
      <p:sp>
        <p:nvSpPr>
          <p:cNvPr id="11" name="Text 9"/>
          <p:cNvSpPr/>
          <p:nvPr/>
        </p:nvSpPr>
        <p:spPr>
          <a:xfrm>
            <a:off x="2304288" y="3264408"/>
            <a:ext cx="1243584" cy="960120"/>
          </a:xfrm>
          <a:prstGeom prst="rect">
            <a:avLst/>
          </a:prstGeom>
          <a:noFill/>
          <a:ln/>
        </p:spPr>
        <p:txBody>
          <a:bodyPr wrap="square" lIns="0" tIns="0" rIns="0" bIns="0" rtlCol="0" anchor="t"/>
          <a:lstStyle/>
          <a:p>
            <a:pPr indent="0" marL="0">
              <a:buNone/>
            </a:pPr>
            <a:r>
              <a:rPr lang="en-US" sz="1100" dirty="0">
                <a:solidFill>
                  <a:srgbClr val="F5F2EA"/>
                </a:solidFill>
                <a:latin typeface="Inter" pitchFamily="34" charset="0"/>
                <a:ea typeface="Inter" pitchFamily="34" charset="-122"/>
                <a:cs typeface="Inter" pitchFamily="34" charset="-120"/>
              </a:rPr>
              <a:t>Ne plus rien rater et gagner du temps.</a:t>
            </a:r>
            <a:endParaRPr lang="en-US" sz="1100" dirty="0"/>
          </a:p>
        </p:txBody>
      </p:sp>
      <p:sp>
        <p:nvSpPr>
          <p:cNvPr id="12" name="Shape 10"/>
          <p:cNvSpPr/>
          <p:nvPr/>
        </p:nvSpPr>
        <p:spPr>
          <a:xfrm>
            <a:off x="3840480" y="2697480"/>
            <a:ext cx="1463040" cy="1645920"/>
          </a:xfrm>
          <a:prstGeom prst="roundRect">
            <a:avLst>
              <a:gd name="adj" fmla="val 3750"/>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3" name="Text 11"/>
          <p:cNvSpPr/>
          <p:nvPr/>
        </p:nvSpPr>
        <p:spPr>
          <a:xfrm>
            <a:off x="3950208" y="2843784"/>
            <a:ext cx="1243584" cy="502920"/>
          </a:xfrm>
          <a:prstGeom prst="rect">
            <a:avLst/>
          </a:prstGeom>
          <a:noFill/>
          <a:ln/>
        </p:spPr>
        <p:txBody>
          <a:bodyPr wrap="square" lIns="0" tIns="0" rIns="0" bIns="0" rtlCol="0" anchor="t"/>
          <a:lstStyle/>
          <a:p>
            <a:pPr indent="0" marL="0">
              <a:buNone/>
            </a:pPr>
            <a:r>
              <a:rPr lang="en-US" sz="1050" b="1" spc="100" kern="0" dirty="0">
                <a:solidFill>
                  <a:srgbClr val="C9A227"/>
                </a:solidFill>
                <a:latin typeface="Inter" pitchFamily="34" charset="0"/>
                <a:ea typeface="Inter" pitchFamily="34" charset="-122"/>
                <a:cs typeface="Inter" pitchFamily="34" charset="-120"/>
              </a:rPr>
              <a:t>ENJEUX &amp; PRODUIT</a:t>
            </a:r>
            <a:endParaRPr lang="en-US" sz="1050" dirty="0"/>
          </a:p>
        </p:txBody>
      </p:sp>
      <p:sp>
        <p:nvSpPr>
          <p:cNvPr id="14" name="Text 12"/>
          <p:cNvSpPr/>
          <p:nvPr/>
        </p:nvSpPr>
        <p:spPr>
          <a:xfrm>
            <a:off x="3950208" y="3264408"/>
            <a:ext cx="1243584" cy="960120"/>
          </a:xfrm>
          <a:prstGeom prst="rect">
            <a:avLst/>
          </a:prstGeom>
          <a:noFill/>
          <a:ln/>
        </p:spPr>
        <p:txBody>
          <a:bodyPr wrap="square" lIns="0" tIns="0" rIns="0" bIns="0" rtlCol="0" anchor="t"/>
          <a:lstStyle/>
          <a:p>
            <a:pPr indent="0" marL="0">
              <a:buNone/>
            </a:pPr>
            <a:r>
              <a:rPr lang="en-US" sz="1100" dirty="0">
                <a:solidFill>
                  <a:srgbClr val="F5F2EA"/>
                </a:solidFill>
                <a:latin typeface="Inter" pitchFamily="34" charset="0"/>
                <a:ea typeface="Inter" pitchFamily="34" charset="-122"/>
                <a:cs typeface="Inter" pitchFamily="34" charset="-120"/>
              </a:rPr>
              <a:t>THYMOS, la gestion centralisée du combattant.</a:t>
            </a:r>
            <a:endParaRPr lang="en-US" sz="1100" dirty="0"/>
          </a:p>
        </p:txBody>
      </p:sp>
      <p:sp>
        <p:nvSpPr>
          <p:cNvPr id="15" name="Shape 13"/>
          <p:cNvSpPr/>
          <p:nvPr/>
        </p:nvSpPr>
        <p:spPr>
          <a:xfrm>
            <a:off x="5486400" y="2697480"/>
            <a:ext cx="1463040" cy="1645920"/>
          </a:xfrm>
          <a:prstGeom prst="roundRect">
            <a:avLst>
              <a:gd name="adj" fmla="val 3750"/>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6" name="Text 14"/>
          <p:cNvSpPr/>
          <p:nvPr/>
        </p:nvSpPr>
        <p:spPr>
          <a:xfrm>
            <a:off x="5596128" y="2843784"/>
            <a:ext cx="1243584" cy="502920"/>
          </a:xfrm>
          <a:prstGeom prst="rect">
            <a:avLst/>
          </a:prstGeom>
          <a:noFill/>
          <a:ln/>
        </p:spPr>
        <p:txBody>
          <a:bodyPr wrap="square" lIns="0" tIns="0" rIns="0" bIns="0" rtlCol="0" anchor="t"/>
          <a:lstStyle/>
          <a:p>
            <a:pPr indent="0" marL="0">
              <a:buNone/>
            </a:pPr>
            <a:r>
              <a:rPr lang="en-US" sz="1050" b="1" spc="100" kern="0" dirty="0">
                <a:solidFill>
                  <a:srgbClr val="C9A227"/>
                </a:solidFill>
                <a:latin typeface="Inter" pitchFamily="34" charset="0"/>
                <a:ea typeface="Inter" pitchFamily="34" charset="-122"/>
                <a:cs typeface="Inter" pitchFamily="34" charset="-120"/>
              </a:rPr>
              <a:t>VALEUR</a:t>
            </a:r>
            <a:endParaRPr lang="en-US" sz="1050" dirty="0"/>
          </a:p>
        </p:txBody>
      </p:sp>
      <p:sp>
        <p:nvSpPr>
          <p:cNvPr id="17" name="Text 15"/>
          <p:cNvSpPr/>
          <p:nvPr/>
        </p:nvSpPr>
        <p:spPr>
          <a:xfrm>
            <a:off x="5596128" y="3264408"/>
            <a:ext cx="1243584" cy="960120"/>
          </a:xfrm>
          <a:prstGeom prst="rect">
            <a:avLst/>
          </a:prstGeom>
          <a:noFill/>
          <a:ln/>
        </p:spPr>
        <p:txBody>
          <a:bodyPr wrap="square" lIns="0" tIns="0" rIns="0" bIns="0" rtlCol="0" anchor="t"/>
          <a:lstStyle/>
          <a:p>
            <a:pPr indent="0" marL="0">
              <a:buNone/>
            </a:pPr>
            <a:r>
              <a:rPr lang="en-US" sz="1100" dirty="0">
                <a:solidFill>
                  <a:srgbClr val="F5F2EA"/>
                </a:solidFill>
                <a:latin typeface="Inter" pitchFamily="34" charset="0"/>
                <a:ea typeface="Inter" pitchFamily="34" charset="-122"/>
                <a:cs typeface="Inter" pitchFamily="34" charset="-120"/>
              </a:rPr>
              <a:t>Le premier outil pensé pour le MMA.</a:t>
            </a:r>
            <a:endParaRPr lang="en-US" sz="1100" dirty="0"/>
          </a:p>
        </p:txBody>
      </p:sp>
      <p:sp>
        <p:nvSpPr>
          <p:cNvPr id="18" name="Shape 16"/>
          <p:cNvSpPr/>
          <p:nvPr/>
        </p:nvSpPr>
        <p:spPr>
          <a:xfrm>
            <a:off x="7132320" y="2697480"/>
            <a:ext cx="1463040" cy="1645920"/>
          </a:xfrm>
          <a:prstGeom prst="roundRect">
            <a:avLst>
              <a:gd name="adj" fmla="val 3750"/>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9" name="Text 17"/>
          <p:cNvSpPr/>
          <p:nvPr/>
        </p:nvSpPr>
        <p:spPr>
          <a:xfrm>
            <a:off x="7242048" y="2843784"/>
            <a:ext cx="1243584" cy="502920"/>
          </a:xfrm>
          <a:prstGeom prst="rect">
            <a:avLst/>
          </a:prstGeom>
          <a:noFill/>
          <a:ln/>
        </p:spPr>
        <p:txBody>
          <a:bodyPr wrap="square" lIns="0" tIns="0" rIns="0" bIns="0" rtlCol="0" anchor="t"/>
          <a:lstStyle/>
          <a:p>
            <a:pPr indent="0" marL="0">
              <a:buNone/>
            </a:pPr>
            <a:r>
              <a:rPr lang="en-US" sz="1050" b="1" spc="100" kern="0" dirty="0">
                <a:solidFill>
                  <a:srgbClr val="C9A227"/>
                </a:solidFill>
                <a:latin typeface="Inter" pitchFamily="34" charset="0"/>
                <a:ea typeface="Inter" pitchFamily="34" charset="-122"/>
                <a:cs typeface="Inter" pitchFamily="34" charset="-120"/>
              </a:rPr>
              <a:t>SUCCÈS</a:t>
            </a:r>
            <a:endParaRPr lang="en-US" sz="1050" dirty="0"/>
          </a:p>
        </p:txBody>
      </p:sp>
      <p:sp>
        <p:nvSpPr>
          <p:cNvPr id="20" name="Text 18"/>
          <p:cNvSpPr/>
          <p:nvPr/>
        </p:nvSpPr>
        <p:spPr>
          <a:xfrm>
            <a:off x="7242048" y="3264408"/>
            <a:ext cx="1243584" cy="960120"/>
          </a:xfrm>
          <a:prstGeom prst="rect">
            <a:avLst/>
          </a:prstGeom>
          <a:noFill/>
          <a:ln/>
        </p:spPr>
        <p:txBody>
          <a:bodyPr wrap="square" lIns="0" tIns="0" rIns="0" bIns="0" rtlCol="0" anchor="t"/>
          <a:lstStyle/>
          <a:p>
            <a:pPr indent="0" marL="0">
              <a:buNone/>
            </a:pPr>
            <a:r>
              <a:rPr lang="en-US" sz="1100" dirty="0">
                <a:solidFill>
                  <a:srgbClr val="F5F2EA"/>
                </a:solidFill>
                <a:latin typeface="Inter" pitchFamily="34" charset="0"/>
                <a:ea typeface="Inter" pitchFamily="34" charset="-122"/>
                <a:cs typeface="Inter" pitchFamily="34" charset="-120"/>
              </a:rPr>
              <a:t>1er abonnement Pro marseillais, puis la France.</a:t>
            </a:r>
            <a:endParaRPr lang="en-US" sz="1100" dirty="0"/>
          </a:p>
        </p:txBody>
      </p:sp>
      <p:sp>
        <p:nvSpPr>
          <p:cNvPr id="21" name="Text 19"/>
          <p:cNvSpPr/>
          <p:nvPr/>
        </p:nvSpPr>
        <p:spPr>
          <a:xfrm>
            <a:off x="548640" y="4818888"/>
            <a:ext cx="2743200" cy="256032"/>
          </a:xfrm>
          <a:prstGeom prst="rect">
            <a:avLst/>
          </a:prstGeom>
          <a:noFill/>
          <a:ln/>
        </p:spPr>
        <p:txBody>
          <a:bodyPr wrap="square" lIns="0" tIns="0" rIns="0" bIns="0" rtlCol="0" anchor="ctr"/>
          <a:lstStyle/>
          <a:p>
            <a:pPr indent="0" marL="0">
              <a:buNone/>
            </a:pPr>
            <a:r>
              <a:rPr lang="en-US" sz="950" b="1" spc="300" kern="0" dirty="0">
                <a:solidFill>
                  <a:srgbClr val="C9A227"/>
                </a:solidFill>
                <a:latin typeface="Inter" pitchFamily="34" charset="0"/>
                <a:ea typeface="Inter" pitchFamily="34" charset="-122"/>
                <a:cs typeface="Inter" pitchFamily="34" charset="-120"/>
              </a:rPr>
              <a:t>THYMOS</a:t>
            </a:r>
            <a:endParaRPr lang="en-US" sz="950" dirty="0"/>
          </a:p>
        </p:txBody>
      </p:sp>
      <p:sp>
        <p:nvSpPr>
          <p:cNvPr id="22" name="Text 20"/>
          <p:cNvSpPr/>
          <p:nvPr/>
        </p:nvSpPr>
        <p:spPr>
          <a:xfrm>
            <a:off x="5852160" y="4818888"/>
            <a:ext cx="2743200" cy="256032"/>
          </a:xfrm>
          <a:prstGeom prst="rect">
            <a:avLst/>
          </a:prstGeom>
          <a:noFill/>
          <a:ln/>
        </p:spPr>
        <p:txBody>
          <a:bodyPr wrap="square" lIns="0" tIns="0" rIns="0" bIns="0" rtlCol="0" anchor="ctr"/>
          <a:lstStyle/>
          <a:p>
            <a:pPr algn="r" indent="0" marL="0">
              <a:buNone/>
            </a:pPr>
            <a:r>
              <a:rPr lang="en-US" sz="950" dirty="0">
                <a:solidFill>
                  <a:srgbClr val="BDB8AE"/>
                </a:solidFill>
                <a:latin typeface="Inter" pitchFamily="34" charset="0"/>
                <a:ea typeface="Inter" pitchFamily="34" charset="-122"/>
                <a:cs typeface="Inter" pitchFamily="34" charset="-120"/>
              </a:rPr>
              <a:t>04 / 11</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6262E"/>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150" b="1" spc="300" kern="0" dirty="0">
                <a:solidFill>
                  <a:srgbClr val="C9A227"/>
                </a:solidFill>
                <a:latin typeface="Inter" pitchFamily="34" charset="0"/>
                <a:ea typeface="Inter" pitchFamily="34" charset="-122"/>
                <a:cs typeface="Inter" pitchFamily="34" charset="-120"/>
              </a:rPr>
              <a:t>04  ·  MARCHÉ &amp; MODÈLE</a:t>
            </a:r>
            <a:endParaRPr lang="en-US" sz="1150" dirty="0"/>
          </a:p>
        </p:txBody>
      </p:sp>
      <p:sp>
        <p:nvSpPr>
          <p:cNvPr id="3" name="Text 1"/>
          <p:cNvSpPr/>
          <p:nvPr/>
        </p:nvSpPr>
        <p:spPr>
          <a:xfrm>
            <a:off x="548640" y="658368"/>
            <a:ext cx="8046720" cy="713232"/>
          </a:xfrm>
          <a:prstGeom prst="rect">
            <a:avLst/>
          </a:prstGeom>
          <a:noFill/>
          <a:ln/>
        </p:spPr>
        <p:txBody>
          <a:bodyPr wrap="square" lIns="0" tIns="0" rIns="0" bIns="0" rtlCol="0" anchor="ctr"/>
          <a:lstStyle/>
          <a:p>
            <a:pPr indent="0" marL="0">
              <a:buNone/>
            </a:pPr>
            <a:r>
              <a:rPr lang="en-US" sz="2800" b="1" spc="100" kern="0" dirty="0">
                <a:solidFill>
                  <a:srgbClr val="F5F2EA"/>
                </a:solidFill>
                <a:latin typeface="Cinzel" pitchFamily="34" charset="0"/>
                <a:ea typeface="Cinzel" pitchFamily="34" charset="-122"/>
                <a:cs typeface="Cinzel" pitchFamily="34" charset="-120"/>
              </a:rPr>
              <a:t>MARCHÉ &amp; MODÈLE</a:t>
            </a:r>
            <a:endParaRPr lang="en-US" sz="2800" dirty="0"/>
          </a:p>
        </p:txBody>
      </p:sp>
      <p:sp>
        <p:nvSpPr>
          <p:cNvPr id="4" name="Shape 2"/>
          <p:cNvSpPr/>
          <p:nvPr/>
        </p:nvSpPr>
        <p:spPr>
          <a:xfrm>
            <a:off x="640080" y="1417320"/>
            <a:ext cx="548640" cy="548640"/>
          </a:xfrm>
          <a:prstGeom prst="ellipse">
            <a:avLst/>
          </a:prstGeom>
          <a:solidFill>
            <a:srgbClr val="33333D"/>
          </a:solidFill>
          <a:ln w="22225">
            <a:solidFill>
              <a:srgbClr val="C9A227"/>
            </a:solidFill>
            <a:prstDash val="solid"/>
          </a:ln>
        </p:spPr>
      </p:sp>
      <p:pic>
        <p:nvPicPr>
          <p:cNvPr id="5" name="Image 0" descr="preencoded.png">    </p:cNvPr>
          <p:cNvPicPr>
            <a:picLocks noChangeAspect="1"/>
          </p:cNvPicPr>
          <p:nvPr/>
        </p:nvPicPr>
        <p:blipFill>
          <a:blip r:embed="rId1"/>
          <a:stretch>
            <a:fillRect/>
          </a:stretch>
        </p:blipFill>
        <p:spPr>
          <a:xfrm>
            <a:off x="788213" y="1565453"/>
            <a:ext cx="252374" cy="252374"/>
          </a:xfrm>
          <a:prstGeom prst="rect">
            <a:avLst/>
          </a:prstGeom>
        </p:spPr>
      </p:pic>
      <p:sp>
        <p:nvSpPr>
          <p:cNvPr id="6" name="Text 3"/>
          <p:cNvSpPr/>
          <p:nvPr/>
        </p:nvSpPr>
        <p:spPr>
          <a:xfrm>
            <a:off x="1371600" y="1463040"/>
            <a:ext cx="7223760" cy="457200"/>
          </a:xfrm>
          <a:prstGeom prst="rect">
            <a:avLst/>
          </a:prstGeom>
          <a:noFill/>
          <a:ln/>
        </p:spPr>
        <p:txBody>
          <a:bodyPr wrap="square" lIns="0" tIns="0" rIns="0" bIns="0" rtlCol="0" anchor="ctr"/>
          <a:lstStyle/>
          <a:p>
            <a:pPr indent="0" marL="0">
              <a:buNone/>
            </a:pPr>
            <a:r>
              <a:rPr lang="en-US" sz="1550" b="1" dirty="0">
                <a:solidFill>
                  <a:srgbClr val="F5F2EA"/>
                </a:solidFill>
                <a:latin typeface="Inter" pitchFamily="34" charset="0"/>
                <a:ea typeface="Inter" pitchFamily="34" charset="-122"/>
                <a:cs typeface="Inter" pitchFamily="34" charset="-120"/>
              </a:rPr>
              <a:t>Marseille d'abord, puis la France.   </a:t>
            </a:r>
            <a:pPr indent="0" marL="0">
              <a:buNone/>
            </a:pPr>
            <a:r>
              <a:rPr lang="en-US" sz="1550" b="1" dirty="0">
                <a:solidFill>
                  <a:srgbClr val="E6C765"/>
                </a:solidFill>
                <a:latin typeface="Inter" pitchFamily="34" charset="0"/>
                <a:ea typeface="Inter" pitchFamily="34" charset="-122"/>
                <a:cs typeface="Inter" pitchFamily="34" charset="-120"/>
              </a:rPr>
              <a:t>~ 2000 salles</a:t>
            </a:r>
            <a:pPr indent="0" marL="0">
              <a:buNone/>
            </a:pPr>
            <a:r>
              <a:rPr lang="en-US" sz="1550" dirty="0">
                <a:solidFill>
                  <a:srgbClr val="BDB8AE"/>
                </a:solidFill>
                <a:latin typeface="Inter" pitchFamily="34" charset="0"/>
                <a:ea typeface="Inter" pitchFamily="34" charset="-122"/>
                <a:cs typeface="Inter" pitchFamily="34" charset="-120"/>
              </a:rPr>
              <a:t> de sports de combat à conquérir.</a:t>
            </a:r>
            <a:endParaRPr lang="en-US" sz="1550" dirty="0"/>
          </a:p>
        </p:txBody>
      </p:sp>
      <p:sp>
        <p:nvSpPr>
          <p:cNvPr id="7" name="Shape 4"/>
          <p:cNvSpPr/>
          <p:nvPr/>
        </p:nvSpPr>
        <p:spPr>
          <a:xfrm>
            <a:off x="548640" y="2240280"/>
            <a:ext cx="2468880" cy="2240280"/>
          </a:xfrm>
          <a:prstGeom prst="roundRect">
            <a:avLst>
              <a:gd name="adj" fmla="val 2449"/>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8" name="Shape 5"/>
          <p:cNvSpPr/>
          <p:nvPr/>
        </p:nvSpPr>
        <p:spPr>
          <a:xfrm>
            <a:off x="1554480" y="2459736"/>
            <a:ext cx="457200" cy="457200"/>
          </a:xfrm>
          <a:prstGeom prst="ellipse">
            <a:avLst/>
          </a:prstGeom>
          <a:solidFill>
            <a:srgbClr val="33333D"/>
          </a:solidFill>
          <a:ln w="22225">
            <a:solidFill>
              <a:srgbClr val="C9A227"/>
            </a:solidFill>
            <a:prstDash val="solid"/>
          </a:ln>
        </p:spPr>
      </p:sp>
      <p:pic>
        <p:nvPicPr>
          <p:cNvPr id="9" name="Image 1" descr="preencoded.png">    </p:cNvPr>
          <p:cNvPicPr>
            <a:picLocks noChangeAspect="1"/>
          </p:cNvPicPr>
          <p:nvPr/>
        </p:nvPicPr>
        <p:blipFill>
          <a:blip r:embed="rId2"/>
          <a:stretch>
            <a:fillRect/>
          </a:stretch>
        </p:blipFill>
        <p:spPr>
          <a:xfrm>
            <a:off x="1677924" y="2583180"/>
            <a:ext cx="210312" cy="210312"/>
          </a:xfrm>
          <a:prstGeom prst="rect">
            <a:avLst/>
          </a:prstGeom>
        </p:spPr>
      </p:pic>
      <p:sp>
        <p:nvSpPr>
          <p:cNvPr id="10" name="Text 6"/>
          <p:cNvSpPr/>
          <p:nvPr/>
        </p:nvSpPr>
        <p:spPr>
          <a:xfrm>
            <a:off x="548640" y="2990088"/>
            <a:ext cx="2468880" cy="292608"/>
          </a:xfrm>
          <a:prstGeom prst="rect">
            <a:avLst/>
          </a:prstGeom>
          <a:noFill/>
          <a:ln/>
        </p:spPr>
        <p:txBody>
          <a:bodyPr wrap="square" lIns="0" tIns="0" rIns="0" bIns="0" rtlCol="0" anchor="ctr"/>
          <a:lstStyle/>
          <a:p>
            <a:pPr algn="ctr" indent="0" marL="0">
              <a:buNone/>
            </a:pPr>
            <a:r>
              <a:rPr lang="en-US" sz="1500" b="1" dirty="0">
                <a:solidFill>
                  <a:srgbClr val="F5F2EA"/>
                </a:solidFill>
                <a:latin typeface="Inter" pitchFamily="34" charset="0"/>
                <a:ea typeface="Inter" pitchFamily="34" charset="-122"/>
                <a:cs typeface="Inter" pitchFamily="34" charset="-120"/>
              </a:rPr>
              <a:t>Découverte</a:t>
            </a:r>
            <a:endParaRPr lang="en-US" sz="1500" dirty="0"/>
          </a:p>
        </p:txBody>
      </p:sp>
      <p:sp>
        <p:nvSpPr>
          <p:cNvPr id="11" name="Text 7"/>
          <p:cNvSpPr/>
          <p:nvPr/>
        </p:nvSpPr>
        <p:spPr>
          <a:xfrm>
            <a:off x="548640" y="3291840"/>
            <a:ext cx="2468880" cy="457200"/>
          </a:xfrm>
          <a:prstGeom prst="rect">
            <a:avLst/>
          </a:prstGeom>
          <a:noFill/>
          <a:ln/>
        </p:spPr>
        <p:txBody>
          <a:bodyPr wrap="square" lIns="0" tIns="0" rIns="0" bIns="0" rtlCol="0" anchor="ctr"/>
          <a:lstStyle/>
          <a:p>
            <a:pPr algn="ctr" indent="0" marL="0">
              <a:buNone/>
            </a:pPr>
            <a:r>
              <a:rPr lang="en-US" sz="3000" b="1" dirty="0">
                <a:solidFill>
                  <a:srgbClr val="C9A227"/>
                </a:solidFill>
                <a:latin typeface="Cinzel" pitchFamily="34" charset="0"/>
                <a:ea typeface="Cinzel" pitchFamily="34" charset="-122"/>
                <a:cs typeface="Cinzel" pitchFamily="34" charset="-120"/>
              </a:rPr>
              <a:t>0 €</a:t>
            </a:r>
            <a:pPr algn="ctr" indent="0" marL="0">
              <a:buNone/>
            </a:pPr>
            <a:r>
              <a:rPr lang="en-US" sz="1300" dirty="0">
                <a:solidFill>
                  <a:srgbClr val="BDB8AE"/>
                </a:solidFill>
                <a:latin typeface="Cinzel" pitchFamily="34" charset="0"/>
                <a:ea typeface="Cinzel" pitchFamily="34" charset="-122"/>
                <a:cs typeface="Cinzel" pitchFamily="34" charset="-120"/>
              </a:rPr>
              <a:t>  essai</a:t>
            </a:r>
            <a:endParaRPr lang="en-US" sz="3000" dirty="0"/>
          </a:p>
        </p:txBody>
      </p:sp>
      <p:sp>
        <p:nvSpPr>
          <p:cNvPr id="12" name="Text 8"/>
          <p:cNvSpPr/>
          <p:nvPr/>
        </p:nvSpPr>
        <p:spPr>
          <a:xfrm>
            <a:off x="731520" y="3867912"/>
            <a:ext cx="2103120" cy="365760"/>
          </a:xfrm>
          <a:prstGeom prst="rect">
            <a:avLst/>
          </a:prstGeom>
          <a:noFill/>
          <a:ln/>
        </p:spPr>
        <p:txBody>
          <a:bodyPr wrap="square" lIns="0" tIns="0" rIns="0" bIns="0" rtlCol="0" anchor="ctr"/>
          <a:lstStyle/>
          <a:p>
            <a:pPr algn="ctr" indent="0" marL="0">
              <a:buNone/>
            </a:pPr>
            <a:r>
              <a:rPr lang="en-US" sz="1250" dirty="0">
                <a:solidFill>
                  <a:srgbClr val="F5F2EA"/>
                </a:solidFill>
                <a:latin typeface="Inter" pitchFamily="34" charset="0"/>
                <a:ea typeface="Inter" pitchFamily="34" charset="-122"/>
                <a:cs typeface="Inter" pitchFamily="34" charset="-120"/>
              </a:rPr>
              <a:t>3 combattants</a:t>
            </a:r>
            <a:endParaRPr lang="en-US" sz="1250" dirty="0"/>
          </a:p>
        </p:txBody>
      </p:sp>
      <p:sp>
        <p:nvSpPr>
          <p:cNvPr id="13" name="Shape 9"/>
          <p:cNvSpPr/>
          <p:nvPr/>
        </p:nvSpPr>
        <p:spPr>
          <a:xfrm>
            <a:off x="3337560" y="2240280"/>
            <a:ext cx="2468880" cy="2240280"/>
          </a:xfrm>
          <a:prstGeom prst="roundRect">
            <a:avLst>
              <a:gd name="adj" fmla="val 2449"/>
            </a:avLst>
          </a:prstGeom>
          <a:solidFill>
            <a:srgbClr val="3C3C48"/>
          </a:solidFill>
          <a:ln w="22225">
            <a:solidFill>
              <a:srgbClr val="C9A227"/>
            </a:solidFill>
            <a:prstDash val="solid"/>
          </a:ln>
          <a:effectLst>
            <a:outerShdw sx="100000" sy="100000" kx="0" ky="0" algn="bl" rotWithShape="0" blurRad="114300" dist="38100" dir="5400000">
              <a:srgbClr val="000000">
                <a:alpha val="50000"/>
              </a:srgbClr>
            </a:outerShdw>
          </a:effectLst>
        </p:spPr>
      </p:sp>
      <p:sp>
        <p:nvSpPr>
          <p:cNvPr id="14" name="Shape 10"/>
          <p:cNvSpPr/>
          <p:nvPr/>
        </p:nvSpPr>
        <p:spPr>
          <a:xfrm>
            <a:off x="4343400" y="2459736"/>
            <a:ext cx="457200" cy="457200"/>
          </a:xfrm>
          <a:prstGeom prst="ellipse">
            <a:avLst/>
          </a:prstGeom>
          <a:solidFill>
            <a:srgbClr val="33333D"/>
          </a:solidFill>
          <a:ln w="22225">
            <a:solidFill>
              <a:srgbClr val="C9A227"/>
            </a:solidFill>
            <a:prstDash val="solid"/>
          </a:ln>
        </p:spPr>
      </p:sp>
      <p:pic>
        <p:nvPicPr>
          <p:cNvPr id="15" name="Image 2" descr="preencoded.png">    </p:cNvPr>
          <p:cNvPicPr>
            <a:picLocks noChangeAspect="1"/>
          </p:cNvPicPr>
          <p:nvPr/>
        </p:nvPicPr>
        <p:blipFill>
          <a:blip r:embed="rId3"/>
          <a:stretch>
            <a:fillRect/>
          </a:stretch>
        </p:blipFill>
        <p:spPr>
          <a:xfrm>
            <a:off x="4466844" y="2583180"/>
            <a:ext cx="210312" cy="210312"/>
          </a:xfrm>
          <a:prstGeom prst="rect">
            <a:avLst/>
          </a:prstGeom>
        </p:spPr>
      </p:pic>
      <p:sp>
        <p:nvSpPr>
          <p:cNvPr id="16" name="Text 11"/>
          <p:cNvSpPr/>
          <p:nvPr/>
        </p:nvSpPr>
        <p:spPr>
          <a:xfrm>
            <a:off x="3337560" y="2990088"/>
            <a:ext cx="2468880" cy="292608"/>
          </a:xfrm>
          <a:prstGeom prst="rect">
            <a:avLst/>
          </a:prstGeom>
          <a:noFill/>
          <a:ln/>
        </p:spPr>
        <p:txBody>
          <a:bodyPr wrap="square" lIns="0" tIns="0" rIns="0" bIns="0" rtlCol="0" anchor="ctr"/>
          <a:lstStyle/>
          <a:p>
            <a:pPr algn="ctr" indent="0" marL="0">
              <a:buNone/>
            </a:pPr>
            <a:r>
              <a:rPr lang="en-US" sz="1500" b="1" dirty="0">
                <a:solidFill>
                  <a:srgbClr val="F5F2EA"/>
                </a:solidFill>
                <a:latin typeface="Inter" pitchFamily="34" charset="0"/>
                <a:ea typeface="Inter" pitchFamily="34" charset="-122"/>
                <a:cs typeface="Inter" pitchFamily="34" charset="-120"/>
              </a:rPr>
              <a:t>Pro</a:t>
            </a:r>
            <a:endParaRPr lang="en-US" sz="1500" dirty="0"/>
          </a:p>
        </p:txBody>
      </p:sp>
      <p:sp>
        <p:nvSpPr>
          <p:cNvPr id="17" name="Text 12"/>
          <p:cNvSpPr/>
          <p:nvPr/>
        </p:nvSpPr>
        <p:spPr>
          <a:xfrm>
            <a:off x="3337560" y="3291840"/>
            <a:ext cx="2468880" cy="457200"/>
          </a:xfrm>
          <a:prstGeom prst="rect">
            <a:avLst/>
          </a:prstGeom>
          <a:noFill/>
          <a:ln/>
        </p:spPr>
        <p:txBody>
          <a:bodyPr wrap="square" lIns="0" tIns="0" rIns="0" bIns="0" rtlCol="0" anchor="ctr"/>
          <a:lstStyle/>
          <a:p>
            <a:pPr algn="ctr" indent="0" marL="0">
              <a:buNone/>
            </a:pPr>
            <a:r>
              <a:rPr lang="en-US" sz="3000" b="1" dirty="0">
                <a:solidFill>
                  <a:srgbClr val="C9A227"/>
                </a:solidFill>
                <a:latin typeface="Cinzel" pitchFamily="34" charset="0"/>
                <a:ea typeface="Cinzel" pitchFamily="34" charset="-122"/>
                <a:cs typeface="Cinzel" pitchFamily="34" charset="-120"/>
              </a:rPr>
              <a:t>59 €</a:t>
            </a:r>
            <a:pPr algn="ctr" indent="0" marL="0">
              <a:buNone/>
            </a:pPr>
            <a:r>
              <a:rPr lang="en-US" sz="1300" dirty="0">
                <a:solidFill>
                  <a:srgbClr val="BDB8AE"/>
                </a:solidFill>
                <a:latin typeface="Cinzel" pitchFamily="34" charset="0"/>
                <a:ea typeface="Cinzel" pitchFamily="34" charset="-122"/>
                <a:cs typeface="Cinzel" pitchFamily="34" charset="-120"/>
              </a:rPr>
              <a:t>  / mois</a:t>
            </a:r>
            <a:endParaRPr lang="en-US" sz="3000" dirty="0"/>
          </a:p>
        </p:txBody>
      </p:sp>
      <p:sp>
        <p:nvSpPr>
          <p:cNvPr id="18" name="Text 13"/>
          <p:cNvSpPr/>
          <p:nvPr/>
        </p:nvSpPr>
        <p:spPr>
          <a:xfrm>
            <a:off x="3520440" y="3867912"/>
            <a:ext cx="2103120" cy="365760"/>
          </a:xfrm>
          <a:prstGeom prst="rect">
            <a:avLst/>
          </a:prstGeom>
          <a:noFill/>
          <a:ln/>
        </p:spPr>
        <p:txBody>
          <a:bodyPr wrap="square" lIns="0" tIns="0" rIns="0" bIns="0" rtlCol="0" anchor="ctr"/>
          <a:lstStyle/>
          <a:p>
            <a:pPr algn="ctr" indent="0" marL="0">
              <a:buNone/>
            </a:pPr>
            <a:r>
              <a:rPr lang="en-US" sz="1250" dirty="0">
                <a:solidFill>
                  <a:srgbClr val="E6C765"/>
                </a:solidFill>
                <a:latin typeface="Inter" pitchFamily="34" charset="0"/>
                <a:ea typeface="Inter" pitchFamily="34" charset="-122"/>
                <a:cs typeface="Inter" pitchFamily="34" charset="-120"/>
              </a:rPr>
              <a:t>15 combattants</a:t>
            </a:r>
            <a:endParaRPr lang="en-US" sz="1250" dirty="0"/>
          </a:p>
        </p:txBody>
      </p:sp>
      <p:sp>
        <p:nvSpPr>
          <p:cNvPr id="19" name="Shape 14"/>
          <p:cNvSpPr/>
          <p:nvPr/>
        </p:nvSpPr>
        <p:spPr>
          <a:xfrm>
            <a:off x="6126480" y="2240280"/>
            <a:ext cx="2468880" cy="2240280"/>
          </a:xfrm>
          <a:prstGeom prst="roundRect">
            <a:avLst>
              <a:gd name="adj" fmla="val 2449"/>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20" name="Shape 15"/>
          <p:cNvSpPr/>
          <p:nvPr/>
        </p:nvSpPr>
        <p:spPr>
          <a:xfrm>
            <a:off x="7132320" y="2459736"/>
            <a:ext cx="457200" cy="457200"/>
          </a:xfrm>
          <a:prstGeom prst="ellipse">
            <a:avLst/>
          </a:prstGeom>
          <a:solidFill>
            <a:srgbClr val="33333D"/>
          </a:solidFill>
          <a:ln w="22225">
            <a:solidFill>
              <a:srgbClr val="C9A227"/>
            </a:solidFill>
            <a:prstDash val="solid"/>
          </a:ln>
        </p:spPr>
      </p:sp>
      <p:pic>
        <p:nvPicPr>
          <p:cNvPr id="21" name="Image 3" descr="preencoded.png">    </p:cNvPr>
          <p:cNvPicPr>
            <a:picLocks noChangeAspect="1"/>
          </p:cNvPicPr>
          <p:nvPr/>
        </p:nvPicPr>
        <p:blipFill>
          <a:blip r:embed="rId4"/>
          <a:stretch>
            <a:fillRect/>
          </a:stretch>
        </p:blipFill>
        <p:spPr>
          <a:xfrm>
            <a:off x="7255764" y="2583180"/>
            <a:ext cx="210312" cy="210312"/>
          </a:xfrm>
          <a:prstGeom prst="rect">
            <a:avLst/>
          </a:prstGeom>
        </p:spPr>
      </p:pic>
      <p:sp>
        <p:nvSpPr>
          <p:cNvPr id="22" name="Text 16"/>
          <p:cNvSpPr/>
          <p:nvPr/>
        </p:nvSpPr>
        <p:spPr>
          <a:xfrm>
            <a:off x="6126480" y="2990088"/>
            <a:ext cx="2468880" cy="292608"/>
          </a:xfrm>
          <a:prstGeom prst="rect">
            <a:avLst/>
          </a:prstGeom>
          <a:noFill/>
          <a:ln/>
        </p:spPr>
        <p:txBody>
          <a:bodyPr wrap="square" lIns="0" tIns="0" rIns="0" bIns="0" rtlCol="0" anchor="ctr"/>
          <a:lstStyle/>
          <a:p>
            <a:pPr algn="ctr" indent="0" marL="0">
              <a:buNone/>
            </a:pPr>
            <a:r>
              <a:rPr lang="en-US" sz="1500" b="1" dirty="0">
                <a:solidFill>
                  <a:srgbClr val="F5F2EA"/>
                </a:solidFill>
                <a:latin typeface="Inter" pitchFamily="34" charset="0"/>
                <a:ea typeface="Inter" pitchFamily="34" charset="-122"/>
                <a:cs typeface="Inter" pitchFamily="34" charset="-120"/>
              </a:rPr>
              <a:t>Elite</a:t>
            </a:r>
            <a:endParaRPr lang="en-US" sz="1500" dirty="0"/>
          </a:p>
        </p:txBody>
      </p:sp>
      <p:sp>
        <p:nvSpPr>
          <p:cNvPr id="23" name="Text 17"/>
          <p:cNvSpPr/>
          <p:nvPr/>
        </p:nvSpPr>
        <p:spPr>
          <a:xfrm>
            <a:off x="6126480" y="3291840"/>
            <a:ext cx="2468880" cy="457200"/>
          </a:xfrm>
          <a:prstGeom prst="rect">
            <a:avLst/>
          </a:prstGeom>
          <a:noFill/>
          <a:ln/>
        </p:spPr>
        <p:txBody>
          <a:bodyPr wrap="square" lIns="0" tIns="0" rIns="0" bIns="0" rtlCol="0" anchor="ctr"/>
          <a:lstStyle/>
          <a:p>
            <a:pPr algn="ctr" indent="0" marL="0">
              <a:buNone/>
            </a:pPr>
            <a:r>
              <a:rPr lang="en-US" sz="3000" b="1" dirty="0">
                <a:solidFill>
                  <a:srgbClr val="C9A227"/>
                </a:solidFill>
                <a:latin typeface="Cinzel" pitchFamily="34" charset="0"/>
                <a:ea typeface="Cinzel" pitchFamily="34" charset="-122"/>
                <a:cs typeface="Cinzel" pitchFamily="34" charset="-120"/>
              </a:rPr>
              <a:t>129 €</a:t>
            </a:r>
            <a:pPr algn="ctr" indent="0" marL="0">
              <a:buNone/>
            </a:pPr>
            <a:r>
              <a:rPr lang="en-US" sz="1300" dirty="0">
                <a:solidFill>
                  <a:srgbClr val="BDB8AE"/>
                </a:solidFill>
                <a:latin typeface="Cinzel" pitchFamily="34" charset="0"/>
                <a:ea typeface="Cinzel" pitchFamily="34" charset="-122"/>
                <a:cs typeface="Cinzel" pitchFamily="34" charset="-120"/>
              </a:rPr>
              <a:t>  / mois</a:t>
            </a:r>
            <a:endParaRPr lang="en-US" sz="3000" dirty="0"/>
          </a:p>
        </p:txBody>
      </p:sp>
      <p:sp>
        <p:nvSpPr>
          <p:cNvPr id="24" name="Text 18"/>
          <p:cNvSpPr/>
          <p:nvPr/>
        </p:nvSpPr>
        <p:spPr>
          <a:xfrm>
            <a:off x="6309360" y="3867912"/>
            <a:ext cx="2103120" cy="365760"/>
          </a:xfrm>
          <a:prstGeom prst="rect">
            <a:avLst/>
          </a:prstGeom>
          <a:noFill/>
          <a:ln/>
        </p:spPr>
        <p:txBody>
          <a:bodyPr wrap="square" lIns="0" tIns="0" rIns="0" bIns="0" rtlCol="0" anchor="ctr"/>
          <a:lstStyle/>
          <a:p>
            <a:pPr algn="ctr" indent="0" marL="0">
              <a:buNone/>
            </a:pPr>
            <a:r>
              <a:rPr lang="en-US" sz="1250" dirty="0">
                <a:solidFill>
                  <a:srgbClr val="F5F2EA"/>
                </a:solidFill>
                <a:latin typeface="Inter" pitchFamily="34" charset="0"/>
                <a:ea typeface="Inter" pitchFamily="34" charset="-122"/>
                <a:cs typeface="Inter" pitchFamily="34" charset="-120"/>
              </a:rPr>
              <a:t>Combattants illimités</a:t>
            </a:r>
            <a:endParaRPr lang="en-US" sz="1250" dirty="0"/>
          </a:p>
        </p:txBody>
      </p:sp>
      <p:sp>
        <p:nvSpPr>
          <p:cNvPr id="25" name="Text 19"/>
          <p:cNvSpPr/>
          <p:nvPr/>
        </p:nvSpPr>
        <p:spPr>
          <a:xfrm>
            <a:off x="548640" y="4553712"/>
            <a:ext cx="8046720" cy="274320"/>
          </a:xfrm>
          <a:prstGeom prst="rect">
            <a:avLst/>
          </a:prstGeom>
          <a:noFill/>
          <a:ln/>
        </p:spPr>
        <p:txBody>
          <a:bodyPr wrap="square" lIns="0" tIns="0" rIns="0" bIns="0" rtlCol="0" anchor="ctr"/>
          <a:lstStyle/>
          <a:p>
            <a:pPr algn="ctr" indent="0" marL="0">
              <a:buNone/>
            </a:pPr>
            <a:r>
              <a:rPr lang="en-US" sz="1100" i="1" dirty="0">
                <a:solidFill>
                  <a:srgbClr val="BDB8AE"/>
                </a:solidFill>
                <a:latin typeface="Inter" pitchFamily="34" charset="0"/>
                <a:ea typeface="Inter" pitchFamily="34" charset="-122"/>
                <a:cs typeface="Inter" pitchFamily="34" charset="-120"/>
              </a:rPr>
              <a:t>Modèle freemium  ·  -20 % sur l'abonnement annuel  ·  paiements via Stripe</a:t>
            </a:r>
            <a:endParaRPr lang="en-US" sz="1100" dirty="0"/>
          </a:p>
        </p:txBody>
      </p:sp>
      <p:sp>
        <p:nvSpPr>
          <p:cNvPr id="26" name="Text 20"/>
          <p:cNvSpPr/>
          <p:nvPr/>
        </p:nvSpPr>
        <p:spPr>
          <a:xfrm>
            <a:off x="548640" y="4818888"/>
            <a:ext cx="2743200" cy="256032"/>
          </a:xfrm>
          <a:prstGeom prst="rect">
            <a:avLst/>
          </a:prstGeom>
          <a:noFill/>
          <a:ln/>
        </p:spPr>
        <p:txBody>
          <a:bodyPr wrap="square" lIns="0" tIns="0" rIns="0" bIns="0" rtlCol="0" anchor="ctr"/>
          <a:lstStyle/>
          <a:p>
            <a:pPr indent="0" marL="0">
              <a:buNone/>
            </a:pPr>
            <a:r>
              <a:rPr lang="en-US" sz="950" b="1" spc="300" kern="0" dirty="0">
                <a:solidFill>
                  <a:srgbClr val="C9A227"/>
                </a:solidFill>
                <a:latin typeface="Inter" pitchFamily="34" charset="0"/>
                <a:ea typeface="Inter" pitchFamily="34" charset="-122"/>
                <a:cs typeface="Inter" pitchFamily="34" charset="-120"/>
              </a:rPr>
              <a:t>THYMOS</a:t>
            </a:r>
            <a:endParaRPr lang="en-US" sz="950" dirty="0"/>
          </a:p>
        </p:txBody>
      </p:sp>
      <p:sp>
        <p:nvSpPr>
          <p:cNvPr id="27" name="Text 21"/>
          <p:cNvSpPr/>
          <p:nvPr/>
        </p:nvSpPr>
        <p:spPr>
          <a:xfrm>
            <a:off x="5852160" y="4818888"/>
            <a:ext cx="2743200" cy="256032"/>
          </a:xfrm>
          <a:prstGeom prst="rect">
            <a:avLst/>
          </a:prstGeom>
          <a:noFill/>
          <a:ln/>
        </p:spPr>
        <p:txBody>
          <a:bodyPr wrap="square" lIns="0" tIns="0" rIns="0" bIns="0" rtlCol="0" anchor="ctr"/>
          <a:lstStyle/>
          <a:p>
            <a:pPr algn="r" indent="0" marL="0">
              <a:buNone/>
            </a:pPr>
            <a:r>
              <a:rPr lang="en-US" sz="950" dirty="0">
                <a:solidFill>
                  <a:srgbClr val="BDB8AE"/>
                </a:solidFill>
                <a:latin typeface="Inter" pitchFamily="34" charset="0"/>
                <a:ea typeface="Inter" pitchFamily="34" charset="-122"/>
                <a:cs typeface="Inter" pitchFamily="34" charset="-120"/>
              </a:rPr>
              <a:t>05 / 11</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6262E"/>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150" b="1" spc="300" kern="0" dirty="0">
                <a:solidFill>
                  <a:srgbClr val="C9A227"/>
                </a:solidFill>
                <a:latin typeface="Inter" pitchFamily="34" charset="0"/>
                <a:ea typeface="Inter" pitchFamily="34" charset="-122"/>
                <a:cs typeface="Inter" pitchFamily="34" charset="-120"/>
              </a:rPr>
              <a:t>05  ·  APERÇU FONCTIONNEL</a:t>
            </a:r>
            <a:endParaRPr lang="en-US" sz="1150" dirty="0"/>
          </a:p>
        </p:txBody>
      </p:sp>
      <p:sp>
        <p:nvSpPr>
          <p:cNvPr id="3" name="Text 1"/>
          <p:cNvSpPr/>
          <p:nvPr/>
        </p:nvSpPr>
        <p:spPr>
          <a:xfrm>
            <a:off x="548640" y="658368"/>
            <a:ext cx="8046720" cy="713232"/>
          </a:xfrm>
          <a:prstGeom prst="rect">
            <a:avLst/>
          </a:prstGeom>
          <a:noFill/>
          <a:ln/>
        </p:spPr>
        <p:txBody>
          <a:bodyPr wrap="square" lIns="0" tIns="0" rIns="0" bIns="0" rtlCol="0" anchor="ctr"/>
          <a:lstStyle/>
          <a:p>
            <a:pPr indent="0" marL="0">
              <a:buNone/>
            </a:pPr>
            <a:r>
              <a:rPr lang="en-US" sz="3000" b="1" spc="100" kern="0" dirty="0">
                <a:solidFill>
                  <a:srgbClr val="F5F2EA"/>
                </a:solidFill>
                <a:latin typeface="Cinzel" pitchFamily="34" charset="0"/>
                <a:ea typeface="Cinzel" pitchFamily="34" charset="-122"/>
                <a:cs typeface="Cinzel" pitchFamily="34" charset="-120"/>
              </a:rPr>
              <a:t>LES MODULES</a:t>
            </a:r>
            <a:endParaRPr lang="en-US" sz="3000" dirty="0"/>
          </a:p>
        </p:txBody>
      </p:sp>
      <p:sp>
        <p:nvSpPr>
          <p:cNvPr id="4" name="Shape 2"/>
          <p:cNvSpPr/>
          <p:nvPr/>
        </p:nvSpPr>
        <p:spPr>
          <a:xfrm>
            <a:off x="548640" y="1627632"/>
            <a:ext cx="2468880" cy="1298448"/>
          </a:xfrm>
          <a:prstGeom prst="roundRect">
            <a:avLst>
              <a:gd name="adj" fmla="val 4225"/>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5" name="Shape 3"/>
          <p:cNvSpPr/>
          <p:nvPr/>
        </p:nvSpPr>
        <p:spPr>
          <a:xfrm>
            <a:off x="749808" y="1847088"/>
            <a:ext cx="457200" cy="457200"/>
          </a:xfrm>
          <a:prstGeom prst="ellipse">
            <a:avLst/>
          </a:prstGeom>
          <a:solidFill>
            <a:srgbClr val="33333D"/>
          </a:solidFill>
          <a:ln w="22225">
            <a:solidFill>
              <a:srgbClr val="C9A227"/>
            </a:solidFill>
            <a:prstDash val="solid"/>
          </a:ln>
        </p:spPr>
      </p:sp>
      <p:pic>
        <p:nvPicPr>
          <p:cNvPr id="6" name="Image 0" descr="preencoded.png">    </p:cNvPr>
          <p:cNvPicPr>
            <a:picLocks noChangeAspect="1"/>
          </p:cNvPicPr>
          <p:nvPr/>
        </p:nvPicPr>
        <p:blipFill>
          <a:blip r:embed="rId1"/>
          <a:stretch>
            <a:fillRect/>
          </a:stretch>
        </p:blipFill>
        <p:spPr>
          <a:xfrm>
            <a:off x="873252" y="1970532"/>
            <a:ext cx="210312" cy="210312"/>
          </a:xfrm>
          <a:prstGeom prst="rect">
            <a:avLst/>
          </a:prstGeom>
        </p:spPr>
      </p:pic>
      <p:sp>
        <p:nvSpPr>
          <p:cNvPr id="7" name="Text 4"/>
          <p:cNvSpPr/>
          <p:nvPr/>
        </p:nvSpPr>
        <p:spPr>
          <a:xfrm>
            <a:off x="1298448" y="1847088"/>
            <a:ext cx="1554480" cy="457200"/>
          </a:xfrm>
          <a:prstGeom prst="rect">
            <a:avLst/>
          </a:prstGeom>
          <a:noFill/>
          <a:ln/>
        </p:spPr>
        <p:txBody>
          <a:bodyPr wrap="square" lIns="0" tIns="0" rIns="0" bIns="0" rtlCol="0" anchor="ctr"/>
          <a:lstStyle/>
          <a:p>
            <a:pPr indent="0" marL="0">
              <a:buNone/>
            </a:pPr>
            <a:r>
              <a:rPr lang="en-US" sz="1350" b="1" dirty="0">
                <a:solidFill>
                  <a:srgbClr val="F5F2EA"/>
                </a:solidFill>
                <a:latin typeface="Inter" pitchFamily="34" charset="0"/>
                <a:ea typeface="Inter" pitchFamily="34" charset="-122"/>
                <a:cs typeface="Inter" pitchFamily="34" charset="-120"/>
              </a:rPr>
              <a:t>Dashboard</a:t>
            </a:r>
            <a:endParaRPr lang="en-US" sz="1350" dirty="0"/>
          </a:p>
        </p:txBody>
      </p:sp>
      <p:sp>
        <p:nvSpPr>
          <p:cNvPr id="8" name="Text 5"/>
          <p:cNvSpPr/>
          <p:nvPr/>
        </p:nvSpPr>
        <p:spPr>
          <a:xfrm>
            <a:off x="749808" y="2377440"/>
            <a:ext cx="2066544" cy="457200"/>
          </a:xfrm>
          <a:prstGeom prst="rect">
            <a:avLst/>
          </a:prstGeom>
          <a:noFill/>
          <a:ln/>
        </p:spPr>
        <p:txBody>
          <a:bodyPr wrap="square" lIns="0" tIns="0" rIns="0" bIns="0" rtlCol="0" anchor="ctr"/>
          <a:lstStyle/>
          <a:p>
            <a:pPr indent="0" marL="0">
              <a:buNone/>
            </a:pPr>
            <a:r>
              <a:rPr lang="en-US" sz="1150" dirty="0">
                <a:solidFill>
                  <a:srgbClr val="BDB8AE"/>
                </a:solidFill>
                <a:latin typeface="Inter" pitchFamily="34" charset="0"/>
                <a:ea typeface="Inter" pitchFamily="34" charset="-122"/>
                <a:cs typeface="Inter" pitchFamily="34" charset="-120"/>
              </a:rPr>
              <a:t>KPIs et graphes en temps réel.</a:t>
            </a:r>
            <a:endParaRPr lang="en-US" sz="1150" dirty="0"/>
          </a:p>
        </p:txBody>
      </p:sp>
      <p:sp>
        <p:nvSpPr>
          <p:cNvPr id="9" name="Shape 6"/>
          <p:cNvSpPr/>
          <p:nvPr/>
        </p:nvSpPr>
        <p:spPr>
          <a:xfrm>
            <a:off x="3337560" y="1627632"/>
            <a:ext cx="2468880" cy="1298448"/>
          </a:xfrm>
          <a:prstGeom prst="roundRect">
            <a:avLst>
              <a:gd name="adj" fmla="val 4225"/>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0" name="Shape 7"/>
          <p:cNvSpPr/>
          <p:nvPr/>
        </p:nvSpPr>
        <p:spPr>
          <a:xfrm>
            <a:off x="3538728" y="1847088"/>
            <a:ext cx="457200" cy="457200"/>
          </a:xfrm>
          <a:prstGeom prst="ellipse">
            <a:avLst/>
          </a:prstGeom>
          <a:solidFill>
            <a:srgbClr val="33333D"/>
          </a:solidFill>
          <a:ln w="22225">
            <a:solidFill>
              <a:srgbClr val="C9A227"/>
            </a:solidFill>
            <a:prstDash val="solid"/>
          </a:ln>
        </p:spPr>
      </p:sp>
      <p:pic>
        <p:nvPicPr>
          <p:cNvPr id="11" name="Image 1" descr="preencoded.png">    </p:cNvPr>
          <p:cNvPicPr>
            <a:picLocks noChangeAspect="1"/>
          </p:cNvPicPr>
          <p:nvPr/>
        </p:nvPicPr>
        <p:blipFill>
          <a:blip r:embed="rId2"/>
          <a:stretch>
            <a:fillRect/>
          </a:stretch>
        </p:blipFill>
        <p:spPr>
          <a:xfrm>
            <a:off x="3662172" y="1970532"/>
            <a:ext cx="210312" cy="210312"/>
          </a:xfrm>
          <a:prstGeom prst="rect">
            <a:avLst/>
          </a:prstGeom>
        </p:spPr>
      </p:pic>
      <p:sp>
        <p:nvSpPr>
          <p:cNvPr id="12" name="Text 8"/>
          <p:cNvSpPr/>
          <p:nvPr/>
        </p:nvSpPr>
        <p:spPr>
          <a:xfrm>
            <a:off x="4087368" y="1847088"/>
            <a:ext cx="1554480" cy="457200"/>
          </a:xfrm>
          <a:prstGeom prst="rect">
            <a:avLst/>
          </a:prstGeom>
          <a:noFill/>
          <a:ln/>
        </p:spPr>
        <p:txBody>
          <a:bodyPr wrap="square" lIns="0" tIns="0" rIns="0" bIns="0" rtlCol="0" anchor="ctr"/>
          <a:lstStyle/>
          <a:p>
            <a:pPr indent="0" marL="0">
              <a:buNone/>
            </a:pPr>
            <a:r>
              <a:rPr lang="en-US" sz="1350" b="1" dirty="0">
                <a:solidFill>
                  <a:srgbClr val="F5F2EA"/>
                </a:solidFill>
                <a:latin typeface="Inter" pitchFamily="34" charset="0"/>
                <a:ea typeface="Inter" pitchFamily="34" charset="-122"/>
                <a:cs typeface="Inter" pitchFamily="34" charset="-120"/>
              </a:rPr>
              <a:t>Fiche combattant</a:t>
            </a:r>
            <a:endParaRPr lang="en-US" sz="1350" dirty="0"/>
          </a:p>
        </p:txBody>
      </p:sp>
      <p:sp>
        <p:nvSpPr>
          <p:cNvPr id="13" name="Text 9"/>
          <p:cNvSpPr/>
          <p:nvPr/>
        </p:nvSpPr>
        <p:spPr>
          <a:xfrm>
            <a:off x="3538728" y="2377440"/>
            <a:ext cx="2066544" cy="457200"/>
          </a:xfrm>
          <a:prstGeom prst="rect">
            <a:avLst/>
          </a:prstGeom>
          <a:noFill/>
          <a:ln/>
        </p:spPr>
        <p:txBody>
          <a:bodyPr wrap="square" lIns="0" tIns="0" rIns="0" bIns="0" rtlCol="0" anchor="ctr"/>
          <a:lstStyle/>
          <a:p>
            <a:pPr indent="0" marL="0">
              <a:buNone/>
            </a:pPr>
            <a:r>
              <a:rPr lang="en-US" sz="1150" dirty="0">
                <a:solidFill>
                  <a:srgbClr val="BDB8AE"/>
                </a:solidFill>
                <a:latin typeface="Inter" pitchFamily="34" charset="0"/>
                <a:ea typeface="Inter" pitchFamily="34" charset="-122"/>
                <a:cs typeface="Inter" pitchFamily="34" charset="-120"/>
              </a:rPr>
              <a:t>Scores physiques et mentaux.</a:t>
            </a:r>
            <a:endParaRPr lang="en-US" sz="1150" dirty="0"/>
          </a:p>
        </p:txBody>
      </p:sp>
      <p:sp>
        <p:nvSpPr>
          <p:cNvPr id="14" name="Shape 10"/>
          <p:cNvSpPr/>
          <p:nvPr/>
        </p:nvSpPr>
        <p:spPr>
          <a:xfrm>
            <a:off x="6126480" y="1627632"/>
            <a:ext cx="2468880" cy="1298448"/>
          </a:xfrm>
          <a:prstGeom prst="roundRect">
            <a:avLst>
              <a:gd name="adj" fmla="val 4225"/>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5" name="Shape 11"/>
          <p:cNvSpPr/>
          <p:nvPr/>
        </p:nvSpPr>
        <p:spPr>
          <a:xfrm>
            <a:off x="6327648" y="1847088"/>
            <a:ext cx="457200" cy="457200"/>
          </a:xfrm>
          <a:prstGeom prst="ellipse">
            <a:avLst/>
          </a:prstGeom>
          <a:solidFill>
            <a:srgbClr val="33333D"/>
          </a:solidFill>
          <a:ln w="22225">
            <a:solidFill>
              <a:srgbClr val="C9A227"/>
            </a:solidFill>
            <a:prstDash val="solid"/>
          </a:ln>
        </p:spPr>
      </p:sp>
      <p:pic>
        <p:nvPicPr>
          <p:cNvPr id="16" name="Image 2" descr="preencoded.png">    </p:cNvPr>
          <p:cNvPicPr>
            <a:picLocks noChangeAspect="1"/>
          </p:cNvPicPr>
          <p:nvPr/>
        </p:nvPicPr>
        <p:blipFill>
          <a:blip r:embed="rId3"/>
          <a:stretch>
            <a:fillRect/>
          </a:stretch>
        </p:blipFill>
        <p:spPr>
          <a:xfrm>
            <a:off x="6451092" y="1970532"/>
            <a:ext cx="210312" cy="210312"/>
          </a:xfrm>
          <a:prstGeom prst="rect">
            <a:avLst/>
          </a:prstGeom>
        </p:spPr>
      </p:pic>
      <p:sp>
        <p:nvSpPr>
          <p:cNvPr id="17" name="Text 12"/>
          <p:cNvSpPr/>
          <p:nvPr/>
        </p:nvSpPr>
        <p:spPr>
          <a:xfrm>
            <a:off x="6876288" y="1847088"/>
            <a:ext cx="1554480" cy="457200"/>
          </a:xfrm>
          <a:prstGeom prst="rect">
            <a:avLst/>
          </a:prstGeom>
          <a:noFill/>
          <a:ln/>
        </p:spPr>
        <p:txBody>
          <a:bodyPr wrap="square" lIns="0" tIns="0" rIns="0" bIns="0" rtlCol="0" anchor="ctr"/>
          <a:lstStyle/>
          <a:p>
            <a:pPr indent="0" marL="0">
              <a:buNone/>
            </a:pPr>
            <a:r>
              <a:rPr lang="en-US" sz="1350" b="1" dirty="0">
                <a:solidFill>
                  <a:srgbClr val="F5F2EA"/>
                </a:solidFill>
                <a:latin typeface="Inter" pitchFamily="34" charset="0"/>
                <a:ea typeface="Inter" pitchFamily="34" charset="-122"/>
                <a:cs typeface="Inter" pitchFamily="34" charset="-120"/>
              </a:rPr>
              <a:t>Combats</a:t>
            </a:r>
            <a:endParaRPr lang="en-US" sz="1350" dirty="0"/>
          </a:p>
        </p:txBody>
      </p:sp>
      <p:sp>
        <p:nvSpPr>
          <p:cNvPr id="18" name="Text 13"/>
          <p:cNvSpPr/>
          <p:nvPr/>
        </p:nvSpPr>
        <p:spPr>
          <a:xfrm>
            <a:off x="6327648" y="2377440"/>
            <a:ext cx="2066544" cy="457200"/>
          </a:xfrm>
          <a:prstGeom prst="rect">
            <a:avLst/>
          </a:prstGeom>
          <a:noFill/>
          <a:ln/>
        </p:spPr>
        <p:txBody>
          <a:bodyPr wrap="square" lIns="0" tIns="0" rIns="0" bIns="0" rtlCol="0" anchor="ctr"/>
          <a:lstStyle/>
          <a:p>
            <a:pPr indent="0" marL="0">
              <a:buNone/>
            </a:pPr>
            <a:r>
              <a:rPr lang="en-US" sz="1150" dirty="0">
                <a:solidFill>
                  <a:srgbClr val="BDB8AE"/>
                </a:solidFill>
                <a:latin typeface="Inter" pitchFamily="34" charset="0"/>
                <a:ea typeface="Inter" pitchFamily="34" charset="-122"/>
                <a:cs typeface="Inter" pitchFamily="34" charset="-120"/>
              </a:rPr>
              <a:t>Record et taux de finish.</a:t>
            </a:r>
            <a:endParaRPr lang="en-US" sz="1150" dirty="0"/>
          </a:p>
        </p:txBody>
      </p:sp>
      <p:sp>
        <p:nvSpPr>
          <p:cNvPr id="19" name="Shape 14"/>
          <p:cNvSpPr/>
          <p:nvPr/>
        </p:nvSpPr>
        <p:spPr>
          <a:xfrm>
            <a:off x="548640" y="3035808"/>
            <a:ext cx="2468880" cy="1298448"/>
          </a:xfrm>
          <a:prstGeom prst="roundRect">
            <a:avLst>
              <a:gd name="adj" fmla="val 4225"/>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20" name="Shape 15"/>
          <p:cNvSpPr/>
          <p:nvPr/>
        </p:nvSpPr>
        <p:spPr>
          <a:xfrm>
            <a:off x="749808" y="3255264"/>
            <a:ext cx="457200" cy="457200"/>
          </a:xfrm>
          <a:prstGeom prst="ellipse">
            <a:avLst/>
          </a:prstGeom>
          <a:solidFill>
            <a:srgbClr val="33333D"/>
          </a:solidFill>
          <a:ln w="22225">
            <a:solidFill>
              <a:srgbClr val="C9A227"/>
            </a:solidFill>
            <a:prstDash val="solid"/>
          </a:ln>
        </p:spPr>
      </p:sp>
      <p:pic>
        <p:nvPicPr>
          <p:cNvPr id="21" name="Image 3" descr="preencoded.png">    </p:cNvPr>
          <p:cNvPicPr>
            <a:picLocks noChangeAspect="1"/>
          </p:cNvPicPr>
          <p:nvPr/>
        </p:nvPicPr>
        <p:blipFill>
          <a:blip r:embed="rId4"/>
          <a:stretch>
            <a:fillRect/>
          </a:stretch>
        </p:blipFill>
        <p:spPr>
          <a:xfrm>
            <a:off x="873252" y="3378708"/>
            <a:ext cx="210312" cy="210312"/>
          </a:xfrm>
          <a:prstGeom prst="rect">
            <a:avLst/>
          </a:prstGeom>
        </p:spPr>
      </p:pic>
      <p:sp>
        <p:nvSpPr>
          <p:cNvPr id="22" name="Text 16"/>
          <p:cNvSpPr/>
          <p:nvPr/>
        </p:nvSpPr>
        <p:spPr>
          <a:xfrm>
            <a:off x="1298448" y="3255264"/>
            <a:ext cx="1554480" cy="457200"/>
          </a:xfrm>
          <a:prstGeom prst="rect">
            <a:avLst/>
          </a:prstGeom>
          <a:noFill/>
          <a:ln/>
        </p:spPr>
        <p:txBody>
          <a:bodyPr wrap="square" lIns="0" tIns="0" rIns="0" bIns="0" rtlCol="0" anchor="ctr"/>
          <a:lstStyle/>
          <a:p>
            <a:pPr indent="0" marL="0">
              <a:buNone/>
            </a:pPr>
            <a:r>
              <a:rPr lang="en-US" sz="1350" b="1" dirty="0">
                <a:solidFill>
                  <a:srgbClr val="F5F2EA"/>
                </a:solidFill>
                <a:latin typeface="Inter" pitchFamily="34" charset="0"/>
                <a:ea typeface="Inter" pitchFamily="34" charset="-122"/>
                <a:cs typeface="Inter" pitchFamily="34" charset="-120"/>
              </a:rPr>
              <a:t>Planning</a:t>
            </a:r>
            <a:endParaRPr lang="en-US" sz="1350" dirty="0"/>
          </a:p>
        </p:txBody>
      </p:sp>
      <p:sp>
        <p:nvSpPr>
          <p:cNvPr id="23" name="Text 17"/>
          <p:cNvSpPr/>
          <p:nvPr/>
        </p:nvSpPr>
        <p:spPr>
          <a:xfrm>
            <a:off x="749808" y="3785616"/>
            <a:ext cx="2066544" cy="457200"/>
          </a:xfrm>
          <a:prstGeom prst="rect">
            <a:avLst/>
          </a:prstGeom>
          <a:noFill/>
          <a:ln/>
        </p:spPr>
        <p:txBody>
          <a:bodyPr wrap="square" lIns="0" tIns="0" rIns="0" bIns="0" rtlCol="0" anchor="ctr"/>
          <a:lstStyle/>
          <a:p>
            <a:pPr indent="0" marL="0">
              <a:buNone/>
            </a:pPr>
            <a:r>
              <a:rPr lang="en-US" sz="1150" dirty="0">
                <a:solidFill>
                  <a:srgbClr val="BDB8AE"/>
                </a:solidFill>
                <a:latin typeface="Inter" pitchFamily="34" charset="0"/>
                <a:ea typeface="Inter" pitchFamily="34" charset="-122"/>
                <a:cs typeface="Inter" pitchFamily="34" charset="-120"/>
              </a:rPr>
              <a:t>Agenda et export .ics.</a:t>
            </a:r>
            <a:endParaRPr lang="en-US" sz="1150" dirty="0"/>
          </a:p>
        </p:txBody>
      </p:sp>
      <p:sp>
        <p:nvSpPr>
          <p:cNvPr id="24" name="Shape 18"/>
          <p:cNvSpPr/>
          <p:nvPr/>
        </p:nvSpPr>
        <p:spPr>
          <a:xfrm>
            <a:off x="3337560" y="3035808"/>
            <a:ext cx="2468880" cy="1298448"/>
          </a:xfrm>
          <a:prstGeom prst="roundRect">
            <a:avLst>
              <a:gd name="adj" fmla="val 4225"/>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25" name="Shape 19"/>
          <p:cNvSpPr/>
          <p:nvPr/>
        </p:nvSpPr>
        <p:spPr>
          <a:xfrm>
            <a:off x="3538728" y="3255264"/>
            <a:ext cx="457200" cy="457200"/>
          </a:xfrm>
          <a:prstGeom prst="ellipse">
            <a:avLst/>
          </a:prstGeom>
          <a:solidFill>
            <a:srgbClr val="33333D"/>
          </a:solidFill>
          <a:ln w="22225">
            <a:solidFill>
              <a:srgbClr val="C9A227"/>
            </a:solidFill>
            <a:prstDash val="solid"/>
          </a:ln>
        </p:spPr>
      </p:sp>
      <p:pic>
        <p:nvPicPr>
          <p:cNvPr id="26" name="Image 4" descr="preencoded.png">    </p:cNvPr>
          <p:cNvPicPr>
            <a:picLocks noChangeAspect="1"/>
          </p:cNvPicPr>
          <p:nvPr/>
        </p:nvPicPr>
        <p:blipFill>
          <a:blip r:embed="rId5"/>
          <a:stretch>
            <a:fillRect/>
          </a:stretch>
        </p:blipFill>
        <p:spPr>
          <a:xfrm>
            <a:off x="3662172" y="3378708"/>
            <a:ext cx="210312" cy="210312"/>
          </a:xfrm>
          <a:prstGeom prst="rect">
            <a:avLst/>
          </a:prstGeom>
        </p:spPr>
      </p:pic>
      <p:sp>
        <p:nvSpPr>
          <p:cNvPr id="27" name="Text 20"/>
          <p:cNvSpPr/>
          <p:nvPr/>
        </p:nvSpPr>
        <p:spPr>
          <a:xfrm>
            <a:off x="4087368" y="3255264"/>
            <a:ext cx="1554480" cy="457200"/>
          </a:xfrm>
          <a:prstGeom prst="rect">
            <a:avLst/>
          </a:prstGeom>
          <a:noFill/>
          <a:ln/>
        </p:spPr>
        <p:txBody>
          <a:bodyPr wrap="square" lIns="0" tIns="0" rIns="0" bIns="0" rtlCol="0" anchor="ctr"/>
          <a:lstStyle/>
          <a:p>
            <a:pPr indent="0" marL="0">
              <a:buNone/>
            </a:pPr>
            <a:r>
              <a:rPr lang="en-US" sz="1350" b="1" dirty="0">
                <a:solidFill>
                  <a:srgbClr val="F5F2EA"/>
                </a:solidFill>
                <a:latin typeface="Inter" pitchFamily="34" charset="0"/>
                <a:ea typeface="Inter" pitchFamily="34" charset="-122"/>
                <a:cs typeface="Inter" pitchFamily="34" charset="-120"/>
              </a:rPr>
              <a:t>Alertes auto</a:t>
            </a:r>
            <a:endParaRPr lang="en-US" sz="1350" dirty="0"/>
          </a:p>
        </p:txBody>
      </p:sp>
      <p:sp>
        <p:nvSpPr>
          <p:cNvPr id="28" name="Text 21"/>
          <p:cNvSpPr/>
          <p:nvPr/>
        </p:nvSpPr>
        <p:spPr>
          <a:xfrm>
            <a:off x="3538728" y="3785616"/>
            <a:ext cx="2066544" cy="457200"/>
          </a:xfrm>
          <a:prstGeom prst="rect">
            <a:avLst/>
          </a:prstGeom>
          <a:noFill/>
          <a:ln/>
        </p:spPr>
        <p:txBody>
          <a:bodyPr wrap="square" lIns="0" tIns="0" rIns="0" bIns="0" rtlCol="0" anchor="ctr"/>
          <a:lstStyle/>
          <a:p>
            <a:pPr indent="0" marL="0">
              <a:buNone/>
            </a:pPr>
            <a:r>
              <a:rPr lang="en-US" sz="1150" dirty="0">
                <a:solidFill>
                  <a:srgbClr val="BDB8AE"/>
                </a:solidFill>
                <a:latin typeface="Inter" pitchFamily="34" charset="0"/>
                <a:ea typeface="Inter" pitchFamily="34" charset="-122"/>
                <a:cs typeface="Inter" pitchFamily="34" charset="-120"/>
              </a:rPr>
              <a:t>Les signaux faibles détectés.</a:t>
            </a:r>
            <a:endParaRPr lang="en-US" sz="1150" dirty="0"/>
          </a:p>
        </p:txBody>
      </p:sp>
      <p:sp>
        <p:nvSpPr>
          <p:cNvPr id="29" name="Shape 22"/>
          <p:cNvSpPr/>
          <p:nvPr/>
        </p:nvSpPr>
        <p:spPr>
          <a:xfrm>
            <a:off x="6126480" y="3035808"/>
            <a:ext cx="2468880" cy="1298448"/>
          </a:xfrm>
          <a:prstGeom prst="roundRect">
            <a:avLst>
              <a:gd name="adj" fmla="val 4225"/>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30" name="Shape 23"/>
          <p:cNvSpPr/>
          <p:nvPr/>
        </p:nvSpPr>
        <p:spPr>
          <a:xfrm>
            <a:off x="6327648" y="3255264"/>
            <a:ext cx="457200" cy="457200"/>
          </a:xfrm>
          <a:prstGeom prst="ellipse">
            <a:avLst/>
          </a:prstGeom>
          <a:solidFill>
            <a:srgbClr val="33333D"/>
          </a:solidFill>
          <a:ln w="22225">
            <a:solidFill>
              <a:srgbClr val="C9A227"/>
            </a:solidFill>
            <a:prstDash val="solid"/>
          </a:ln>
        </p:spPr>
      </p:sp>
      <p:pic>
        <p:nvPicPr>
          <p:cNvPr id="31" name="Image 5" descr="preencoded.png">    </p:cNvPr>
          <p:cNvPicPr>
            <a:picLocks noChangeAspect="1"/>
          </p:cNvPicPr>
          <p:nvPr/>
        </p:nvPicPr>
        <p:blipFill>
          <a:blip r:embed="rId6"/>
          <a:stretch>
            <a:fillRect/>
          </a:stretch>
        </p:blipFill>
        <p:spPr>
          <a:xfrm>
            <a:off x="6451092" y="3378708"/>
            <a:ext cx="210312" cy="210312"/>
          </a:xfrm>
          <a:prstGeom prst="rect">
            <a:avLst/>
          </a:prstGeom>
        </p:spPr>
      </p:pic>
      <p:sp>
        <p:nvSpPr>
          <p:cNvPr id="32" name="Text 24"/>
          <p:cNvSpPr/>
          <p:nvPr/>
        </p:nvSpPr>
        <p:spPr>
          <a:xfrm>
            <a:off x="6876288" y="3255264"/>
            <a:ext cx="1554480" cy="457200"/>
          </a:xfrm>
          <a:prstGeom prst="rect">
            <a:avLst/>
          </a:prstGeom>
          <a:noFill/>
          <a:ln/>
        </p:spPr>
        <p:txBody>
          <a:bodyPr wrap="square" lIns="0" tIns="0" rIns="0" bIns="0" rtlCol="0" anchor="ctr"/>
          <a:lstStyle/>
          <a:p>
            <a:pPr indent="0" marL="0">
              <a:buNone/>
            </a:pPr>
            <a:r>
              <a:rPr lang="en-US" sz="1350" b="1" dirty="0">
                <a:solidFill>
                  <a:srgbClr val="F5F2EA"/>
                </a:solidFill>
                <a:latin typeface="Inter" pitchFamily="34" charset="0"/>
                <a:ea typeface="Inter" pitchFamily="34" charset="-122"/>
                <a:cs typeface="Inter" pitchFamily="34" charset="-120"/>
              </a:rPr>
              <a:t>Blessures</a:t>
            </a:r>
            <a:endParaRPr lang="en-US" sz="1350" dirty="0"/>
          </a:p>
        </p:txBody>
      </p:sp>
      <p:sp>
        <p:nvSpPr>
          <p:cNvPr id="33" name="Text 25"/>
          <p:cNvSpPr/>
          <p:nvPr/>
        </p:nvSpPr>
        <p:spPr>
          <a:xfrm>
            <a:off x="6327648" y="3785616"/>
            <a:ext cx="2066544" cy="457200"/>
          </a:xfrm>
          <a:prstGeom prst="rect">
            <a:avLst/>
          </a:prstGeom>
          <a:noFill/>
          <a:ln/>
        </p:spPr>
        <p:txBody>
          <a:bodyPr wrap="square" lIns="0" tIns="0" rIns="0" bIns="0" rtlCol="0" anchor="ctr"/>
          <a:lstStyle/>
          <a:p>
            <a:pPr indent="0" marL="0">
              <a:buNone/>
            </a:pPr>
            <a:r>
              <a:rPr lang="en-US" sz="1150" dirty="0">
                <a:solidFill>
                  <a:srgbClr val="BDB8AE"/>
                </a:solidFill>
                <a:latin typeface="Inter" pitchFamily="34" charset="0"/>
                <a:ea typeface="Inter" pitchFamily="34" charset="-122"/>
                <a:cs typeface="Inter" pitchFamily="34" charset="-120"/>
              </a:rPr>
              <a:t>Suivi et reprise encadrée.</a:t>
            </a:r>
            <a:endParaRPr lang="en-US" sz="1150" dirty="0"/>
          </a:p>
        </p:txBody>
      </p:sp>
      <p:sp>
        <p:nvSpPr>
          <p:cNvPr id="34" name="Text 26"/>
          <p:cNvSpPr/>
          <p:nvPr/>
        </p:nvSpPr>
        <p:spPr>
          <a:xfrm>
            <a:off x="548640" y="4434840"/>
            <a:ext cx="8046720" cy="274320"/>
          </a:xfrm>
          <a:prstGeom prst="rect">
            <a:avLst/>
          </a:prstGeom>
          <a:noFill/>
          <a:ln/>
        </p:spPr>
        <p:txBody>
          <a:bodyPr wrap="square" lIns="0" tIns="0" rIns="0" bIns="0" rtlCol="0" anchor="ctr"/>
          <a:lstStyle/>
          <a:p>
            <a:pPr algn="ctr" indent="0" marL="0">
              <a:buNone/>
            </a:pPr>
            <a:r>
              <a:rPr lang="en-US" sz="1150" b="1" dirty="0">
                <a:solidFill>
                  <a:srgbClr val="C9A227"/>
                </a:solidFill>
                <a:latin typeface="Inter" pitchFamily="34" charset="0"/>
                <a:ea typeface="Inter" pitchFamily="34" charset="-122"/>
                <a:cs typeface="Inter" pitchFamily="34" charset="-120"/>
              </a:rPr>
              <a:t>Et aussi : </a:t>
            </a:r>
            <a:pPr algn="ctr" indent="0" marL="0">
              <a:buNone/>
            </a:pPr>
            <a:r>
              <a:rPr lang="en-US" sz="1150" dirty="0">
                <a:solidFill>
                  <a:srgbClr val="BDB8AE"/>
                </a:solidFill>
                <a:latin typeface="Inter" pitchFamily="34" charset="0"/>
                <a:ea typeface="Inter" pitchFamily="34" charset="-122"/>
                <a:cs typeface="Inter" pitchFamily="34" charset="-120"/>
              </a:rPr>
              <a:t>camps de préparation, questionnaire hebdomadaire, rapport pré-combat imprimable.</a:t>
            </a:r>
            <a:endParaRPr lang="en-US" sz="1150" dirty="0"/>
          </a:p>
        </p:txBody>
      </p:sp>
      <p:sp>
        <p:nvSpPr>
          <p:cNvPr id="35" name="Text 27"/>
          <p:cNvSpPr/>
          <p:nvPr/>
        </p:nvSpPr>
        <p:spPr>
          <a:xfrm>
            <a:off x="548640" y="4818888"/>
            <a:ext cx="2743200" cy="256032"/>
          </a:xfrm>
          <a:prstGeom prst="rect">
            <a:avLst/>
          </a:prstGeom>
          <a:noFill/>
          <a:ln/>
        </p:spPr>
        <p:txBody>
          <a:bodyPr wrap="square" lIns="0" tIns="0" rIns="0" bIns="0" rtlCol="0" anchor="ctr"/>
          <a:lstStyle/>
          <a:p>
            <a:pPr indent="0" marL="0">
              <a:buNone/>
            </a:pPr>
            <a:r>
              <a:rPr lang="en-US" sz="950" b="1" spc="300" kern="0" dirty="0">
                <a:solidFill>
                  <a:srgbClr val="C9A227"/>
                </a:solidFill>
                <a:latin typeface="Inter" pitchFamily="34" charset="0"/>
                <a:ea typeface="Inter" pitchFamily="34" charset="-122"/>
                <a:cs typeface="Inter" pitchFamily="34" charset="-120"/>
              </a:rPr>
              <a:t>THYMOS</a:t>
            </a:r>
            <a:endParaRPr lang="en-US" sz="950" dirty="0"/>
          </a:p>
        </p:txBody>
      </p:sp>
      <p:sp>
        <p:nvSpPr>
          <p:cNvPr id="36" name="Text 28"/>
          <p:cNvSpPr/>
          <p:nvPr/>
        </p:nvSpPr>
        <p:spPr>
          <a:xfrm>
            <a:off x="5852160" y="4818888"/>
            <a:ext cx="2743200" cy="256032"/>
          </a:xfrm>
          <a:prstGeom prst="rect">
            <a:avLst/>
          </a:prstGeom>
          <a:noFill/>
          <a:ln/>
        </p:spPr>
        <p:txBody>
          <a:bodyPr wrap="square" lIns="0" tIns="0" rIns="0" bIns="0" rtlCol="0" anchor="ctr"/>
          <a:lstStyle/>
          <a:p>
            <a:pPr algn="r" indent="0" marL="0">
              <a:buNone/>
            </a:pPr>
            <a:r>
              <a:rPr lang="en-US" sz="950" dirty="0">
                <a:solidFill>
                  <a:srgbClr val="BDB8AE"/>
                </a:solidFill>
                <a:latin typeface="Inter" pitchFamily="34" charset="0"/>
                <a:ea typeface="Inter" pitchFamily="34" charset="-122"/>
                <a:cs typeface="Inter" pitchFamily="34" charset="-120"/>
              </a:rPr>
              <a:t>06 / 11</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6262E"/>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150" b="1" spc="300" kern="0" dirty="0">
                <a:solidFill>
                  <a:srgbClr val="C9A227"/>
                </a:solidFill>
                <a:latin typeface="Inter" pitchFamily="34" charset="0"/>
                <a:ea typeface="Inter" pitchFamily="34" charset="-122"/>
                <a:cs typeface="Inter" pitchFamily="34" charset="-120"/>
              </a:rPr>
              <a:t>06  ·  ARCHITECTURE</a:t>
            </a:r>
            <a:endParaRPr lang="en-US" sz="1150" dirty="0"/>
          </a:p>
        </p:txBody>
      </p:sp>
      <p:sp>
        <p:nvSpPr>
          <p:cNvPr id="3" name="Text 1"/>
          <p:cNvSpPr/>
          <p:nvPr/>
        </p:nvSpPr>
        <p:spPr>
          <a:xfrm>
            <a:off x="548640" y="658368"/>
            <a:ext cx="8046720" cy="713232"/>
          </a:xfrm>
          <a:prstGeom prst="rect">
            <a:avLst/>
          </a:prstGeom>
          <a:noFill/>
          <a:ln/>
        </p:spPr>
        <p:txBody>
          <a:bodyPr wrap="square" lIns="0" tIns="0" rIns="0" bIns="0" rtlCol="0" anchor="ctr"/>
          <a:lstStyle/>
          <a:p>
            <a:pPr indent="0" marL="0">
              <a:buNone/>
            </a:pPr>
            <a:r>
              <a:rPr lang="en-US" sz="3000" b="1" spc="100" kern="0" dirty="0">
                <a:solidFill>
                  <a:srgbClr val="F5F2EA"/>
                </a:solidFill>
                <a:latin typeface="Cinzel" pitchFamily="34" charset="0"/>
                <a:ea typeface="Cinzel" pitchFamily="34" charset="-122"/>
                <a:cs typeface="Cinzel" pitchFamily="34" charset="-120"/>
              </a:rPr>
              <a:t>LA STACK</a:t>
            </a:r>
            <a:endParaRPr lang="en-US" sz="3000" dirty="0"/>
          </a:p>
        </p:txBody>
      </p:sp>
      <p:sp>
        <p:nvSpPr>
          <p:cNvPr id="4" name="Text 2"/>
          <p:cNvSpPr/>
          <p:nvPr/>
        </p:nvSpPr>
        <p:spPr>
          <a:xfrm>
            <a:off x="548640" y="1444752"/>
            <a:ext cx="8046720" cy="365760"/>
          </a:xfrm>
          <a:prstGeom prst="rect">
            <a:avLst/>
          </a:prstGeom>
          <a:noFill/>
          <a:ln/>
        </p:spPr>
        <p:txBody>
          <a:bodyPr wrap="square" lIns="0" tIns="0" rIns="0" bIns="0" rtlCol="0" anchor="ctr"/>
          <a:lstStyle/>
          <a:p>
            <a:pPr indent="0" marL="0">
              <a:buNone/>
            </a:pPr>
            <a:r>
              <a:rPr lang="en-US" sz="1450" dirty="0">
                <a:solidFill>
                  <a:srgbClr val="BDB8AE"/>
                </a:solidFill>
                <a:latin typeface="Inter" pitchFamily="34" charset="0"/>
                <a:ea typeface="Inter" pitchFamily="34" charset="-122"/>
                <a:cs typeface="Inter" pitchFamily="34" charset="-120"/>
              </a:rPr>
              <a:t>Zéro framework, zéro build côté front. Une architecture légère et serverless.</a:t>
            </a:r>
            <a:endParaRPr lang="en-US" sz="1450" dirty="0"/>
          </a:p>
        </p:txBody>
      </p:sp>
      <p:sp>
        <p:nvSpPr>
          <p:cNvPr id="5" name="Shape 3"/>
          <p:cNvSpPr/>
          <p:nvPr/>
        </p:nvSpPr>
        <p:spPr>
          <a:xfrm>
            <a:off x="502920" y="2240280"/>
            <a:ext cx="2423160" cy="1920240"/>
          </a:xfrm>
          <a:prstGeom prst="roundRect">
            <a:avLst>
              <a:gd name="adj" fmla="val 2857"/>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6" name="Shape 4"/>
          <p:cNvSpPr/>
          <p:nvPr/>
        </p:nvSpPr>
        <p:spPr>
          <a:xfrm>
            <a:off x="1431036" y="2514600"/>
            <a:ext cx="566928" cy="566928"/>
          </a:xfrm>
          <a:prstGeom prst="ellipse">
            <a:avLst/>
          </a:prstGeom>
          <a:solidFill>
            <a:srgbClr val="33333D"/>
          </a:solidFill>
          <a:ln w="22225">
            <a:solidFill>
              <a:srgbClr val="C9A227"/>
            </a:solidFill>
            <a:prstDash val="solid"/>
          </a:ln>
        </p:spPr>
      </p:sp>
      <p:pic>
        <p:nvPicPr>
          <p:cNvPr id="7" name="Image 0" descr="preencoded.png">    </p:cNvPr>
          <p:cNvPicPr>
            <a:picLocks noChangeAspect="1"/>
          </p:cNvPicPr>
          <p:nvPr/>
        </p:nvPicPr>
        <p:blipFill>
          <a:blip r:embed="rId1"/>
          <a:stretch>
            <a:fillRect/>
          </a:stretch>
        </p:blipFill>
        <p:spPr>
          <a:xfrm>
            <a:off x="1584107" y="2667671"/>
            <a:ext cx="260787" cy="260787"/>
          </a:xfrm>
          <a:prstGeom prst="rect">
            <a:avLst/>
          </a:prstGeom>
        </p:spPr>
      </p:pic>
      <p:sp>
        <p:nvSpPr>
          <p:cNvPr id="8" name="Text 5"/>
          <p:cNvSpPr/>
          <p:nvPr/>
        </p:nvSpPr>
        <p:spPr>
          <a:xfrm>
            <a:off x="502920" y="3200400"/>
            <a:ext cx="2423160" cy="320040"/>
          </a:xfrm>
          <a:prstGeom prst="rect">
            <a:avLst/>
          </a:prstGeom>
          <a:noFill/>
          <a:ln/>
        </p:spPr>
        <p:txBody>
          <a:bodyPr wrap="square" lIns="0" tIns="0" rIns="0" bIns="0" rtlCol="0" anchor="ctr"/>
          <a:lstStyle/>
          <a:p>
            <a:pPr algn="ctr" indent="0" marL="0">
              <a:buNone/>
            </a:pPr>
            <a:r>
              <a:rPr lang="en-US" sz="1400" b="1" spc="100" kern="0" dirty="0">
                <a:solidFill>
                  <a:srgbClr val="C9A227"/>
                </a:solidFill>
                <a:latin typeface="Inter" pitchFamily="34" charset="0"/>
                <a:ea typeface="Inter" pitchFamily="34" charset="-122"/>
                <a:cs typeface="Inter" pitchFamily="34" charset="-120"/>
              </a:rPr>
              <a:t>NAVIGATEUR</a:t>
            </a:r>
            <a:endParaRPr lang="en-US" sz="1400" dirty="0"/>
          </a:p>
        </p:txBody>
      </p:sp>
      <p:sp>
        <p:nvSpPr>
          <p:cNvPr id="9" name="Text 6"/>
          <p:cNvSpPr/>
          <p:nvPr/>
        </p:nvSpPr>
        <p:spPr>
          <a:xfrm>
            <a:off x="640080" y="3566160"/>
            <a:ext cx="2148840" cy="274320"/>
          </a:xfrm>
          <a:prstGeom prst="rect">
            <a:avLst/>
          </a:prstGeom>
          <a:noFill/>
          <a:ln/>
        </p:spPr>
        <p:txBody>
          <a:bodyPr wrap="square" lIns="0" tIns="0" rIns="0" bIns="0" rtlCol="0" anchor="ctr"/>
          <a:lstStyle/>
          <a:p>
            <a:pPr algn="ctr" indent="0" marL="0">
              <a:buNone/>
            </a:pPr>
            <a:r>
              <a:rPr lang="en-US" sz="1100" dirty="0">
                <a:solidFill>
                  <a:srgbClr val="F5F2EA"/>
                </a:solidFill>
                <a:latin typeface="Inter" pitchFamily="34" charset="0"/>
                <a:ea typeface="Inter" pitchFamily="34" charset="-122"/>
                <a:cs typeface="Inter" pitchFamily="34" charset="-120"/>
              </a:rPr>
              <a:t>HTML / CSS / JS vanilla</a:t>
            </a:r>
            <a:endParaRPr lang="en-US" sz="1100" dirty="0"/>
          </a:p>
        </p:txBody>
      </p:sp>
      <p:sp>
        <p:nvSpPr>
          <p:cNvPr id="10" name="Text 7"/>
          <p:cNvSpPr/>
          <p:nvPr/>
        </p:nvSpPr>
        <p:spPr>
          <a:xfrm>
            <a:off x="640080" y="3813048"/>
            <a:ext cx="2148840" cy="274320"/>
          </a:xfrm>
          <a:prstGeom prst="rect">
            <a:avLst/>
          </a:prstGeom>
          <a:noFill/>
          <a:ln/>
        </p:spPr>
        <p:txBody>
          <a:bodyPr wrap="square" lIns="0" tIns="0" rIns="0" bIns="0" rtlCol="0" anchor="ctr"/>
          <a:lstStyle/>
          <a:p>
            <a:pPr algn="ctr" indent="0" marL="0">
              <a:buNone/>
            </a:pPr>
            <a:r>
              <a:rPr lang="en-US" sz="1100" dirty="0">
                <a:solidFill>
                  <a:srgbClr val="BDB8AE"/>
                </a:solidFill>
                <a:latin typeface="Inter" pitchFamily="34" charset="0"/>
                <a:ea typeface="Inter" pitchFamily="34" charset="-122"/>
                <a:cs typeface="Inter" pitchFamily="34" charset="-120"/>
              </a:rPr>
              <a:t>Chart.js · GSAP · Netlify</a:t>
            </a:r>
            <a:endParaRPr lang="en-US" sz="1100" dirty="0"/>
          </a:p>
        </p:txBody>
      </p:sp>
      <p:sp>
        <p:nvSpPr>
          <p:cNvPr id="11" name="Shape 8"/>
          <p:cNvSpPr/>
          <p:nvPr/>
        </p:nvSpPr>
        <p:spPr>
          <a:xfrm>
            <a:off x="3360420" y="2240280"/>
            <a:ext cx="2423160" cy="1920240"/>
          </a:xfrm>
          <a:prstGeom prst="roundRect">
            <a:avLst>
              <a:gd name="adj" fmla="val 2857"/>
            </a:avLst>
          </a:prstGeom>
          <a:solidFill>
            <a:srgbClr val="33333D"/>
          </a:solidFill>
          <a:ln w="19050">
            <a:solidFill>
              <a:srgbClr val="C9A227"/>
            </a:solidFill>
            <a:prstDash val="solid"/>
          </a:ln>
          <a:effectLst>
            <a:outerShdw sx="100000" sy="100000" kx="0" ky="0" algn="bl" rotWithShape="0" blurRad="114300" dist="38100" dir="5400000">
              <a:srgbClr val="000000">
                <a:alpha val="50000"/>
              </a:srgbClr>
            </a:outerShdw>
          </a:effectLst>
        </p:spPr>
      </p:sp>
      <p:sp>
        <p:nvSpPr>
          <p:cNvPr id="12" name="Shape 9"/>
          <p:cNvSpPr/>
          <p:nvPr/>
        </p:nvSpPr>
        <p:spPr>
          <a:xfrm>
            <a:off x="4288536" y="2514600"/>
            <a:ext cx="566928" cy="566928"/>
          </a:xfrm>
          <a:prstGeom prst="ellipse">
            <a:avLst/>
          </a:prstGeom>
          <a:solidFill>
            <a:srgbClr val="33333D"/>
          </a:solidFill>
          <a:ln w="22225">
            <a:solidFill>
              <a:srgbClr val="C9A227"/>
            </a:solidFill>
            <a:prstDash val="solid"/>
          </a:ln>
        </p:spPr>
      </p:sp>
      <p:pic>
        <p:nvPicPr>
          <p:cNvPr id="13" name="Image 1" descr="preencoded.png">    </p:cNvPr>
          <p:cNvPicPr>
            <a:picLocks noChangeAspect="1"/>
          </p:cNvPicPr>
          <p:nvPr/>
        </p:nvPicPr>
        <p:blipFill>
          <a:blip r:embed="rId2"/>
          <a:stretch>
            <a:fillRect/>
          </a:stretch>
        </p:blipFill>
        <p:spPr>
          <a:xfrm>
            <a:off x="4441607" y="2667671"/>
            <a:ext cx="260787" cy="260787"/>
          </a:xfrm>
          <a:prstGeom prst="rect">
            <a:avLst/>
          </a:prstGeom>
        </p:spPr>
      </p:pic>
      <p:sp>
        <p:nvSpPr>
          <p:cNvPr id="14" name="Text 10"/>
          <p:cNvSpPr/>
          <p:nvPr/>
        </p:nvSpPr>
        <p:spPr>
          <a:xfrm>
            <a:off x="3360420" y="3200400"/>
            <a:ext cx="2423160" cy="320040"/>
          </a:xfrm>
          <a:prstGeom prst="rect">
            <a:avLst/>
          </a:prstGeom>
          <a:noFill/>
          <a:ln/>
        </p:spPr>
        <p:txBody>
          <a:bodyPr wrap="square" lIns="0" tIns="0" rIns="0" bIns="0" rtlCol="0" anchor="ctr"/>
          <a:lstStyle/>
          <a:p>
            <a:pPr algn="ctr" indent="0" marL="0">
              <a:buNone/>
            </a:pPr>
            <a:r>
              <a:rPr lang="en-US" sz="1400" b="1" spc="100" kern="0" dirty="0">
                <a:solidFill>
                  <a:srgbClr val="C9A227"/>
                </a:solidFill>
                <a:latin typeface="Inter" pitchFamily="34" charset="0"/>
                <a:ea typeface="Inter" pitchFamily="34" charset="-122"/>
                <a:cs typeface="Inter" pitchFamily="34" charset="-120"/>
              </a:rPr>
              <a:t>SUPABASE</a:t>
            </a:r>
            <a:endParaRPr lang="en-US" sz="1400" dirty="0"/>
          </a:p>
        </p:txBody>
      </p:sp>
      <p:sp>
        <p:nvSpPr>
          <p:cNvPr id="15" name="Text 11"/>
          <p:cNvSpPr/>
          <p:nvPr/>
        </p:nvSpPr>
        <p:spPr>
          <a:xfrm>
            <a:off x="3497580" y="3566160"/>
            <a:ext cx="2148840" cy="274320"/>
          </a:xfrm>
          <a:prstGeom prst="rect">
            <a:avLst/>
          </a:prstGeom>
          <a:noFill/>
          <a:ln/>
        </p:spPr>
        <p:txBody>
          <a:bodyPr wrap="square" lIns="0" tIns="0" rIns="0" bIns="0" rtlCol="0" anchor="ctr"/>
          <a:lstStyle/>
          <a:p>
            <a:pPr algn="ctr" indent="0" marL="0">
              <a:buNone/>
            </a:pPr>
            <a:r>
              <a:rPr lang="en-US" sz="1100" dirty="0">
                <a:solidFill>
                  <a:srgbClr val="F5F2EA"/>
                </a:solidFill>
                <a:latin typeface="Inter" pitchFamily="34" charset="0"/>
                <a:ea typeface="Inter" pitchFamily="34" charset="-122"/>
                <a:cs typeface="Inter" pitchFamily="34" charset="-120"/>
              </a:rPr>
              <a:t>PostgreSQL · Auth · RLS</a:t>
            </a:r>
            <a:endParaRPr lang="en-US" sz="1100" dirty="0"/>
          </a:p>
        </p:txBody>
      </p:sp>
      <p:sp>
        <p:nvSpPr>
          <p:cNvPr id="16" name="Text 12"/>
          <p:cNvSpPr/>
          <p:nvPr/>
        </p:nvSpPr>
        <p:spPr>
          <a:xfrm>
            <a:off x="3497580" y="3813048"/>
            <a:ext cx="2148840" cy="274320"/>
          </a:xfrm>
          <a:prstGeom prst="rect">
            <a:avLst/>
          </a:prstGeom>
          <a:noFill/>
          <a:ln/>
        </p:spPr>
        <p:txBody>
          <a:bodyPr wrap="square" lIns="0" tIns="0" rIns="0" bIns="0" rtlCol="0" anchor="ctr"/>
          <a:lstStyle/>
          <a:p>
            <a:pPr algn="ctr" indent="0" marL="0">
              <a:buNone/>
            </a:pPr>
            <a:r>
              <a:rPr lang="en-US" sz="1100" dirty="0">
                <a:solidFill>
                  <a:srgbClr val="BDB8AE"/>
                </a:solidFill>
                <a:latin typeface="Inter" pitchFamily="34" charset="0"/>
                <a:ea typeface="Inter" pitchFamily="34" charset="-122"/>
                <a:cs typeface="Inter" pitchFamily="34" charset="-120"/>
              </a:rPr>
              <a:t>Fonctions RPC</a:t>
            </a:r>
            <a:endParaRPr lang="en-US" sz="1100" dirty="0"/>
          </a:p>
        </p:txBody>
      </p:sp>
      <p:sp>
        <p:nvSpPr>
          <p:cNvPr id="17" name="Shape 13"/>
          <p:cNvSpPr/>
          <p:nvPr/>
        </p:nvSpPr>
        <p:spPr>
          <a:xfrm>
            <a:off x="6217920" y="2240280"/>
            <a:ext cx="2423160" cy="1920240"/>
          </a:xfrm>
          <a:prstGeom prst="roundRect">
            <a:avLst>
              <a:gd name="adj" fmla="val 2857"/>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8" name="Shape 14"/>
          <p:cNvSpPr/>
          <p:nvPr/>
        </p:nvSpPr>
        <p:spPr>
          <a:xfrm>
            <a:off x="7146036" y="2514600"/>
            <a:ext cx="566928" cy="566928"/>
          </a:xfrm>
          <a:prstGeom prst="ellipse">
            <a:avLst/>
          </a:prstGeom>
          <a:solidFill>
            <a:srgbClr val="33333D"/>
          </a:solidFill>
          <a:ln w="22225">
            <a:solidFill>
              <a:srgbClr val="C9A227"/>
            </a:solidFill>
            <a:prstDash val="solid"/>
          </a:ln>
        </p:spPr>
      </p:sp>
      <p:pic>
        <p:nvPicPr>
          <p:cNvPr id="19" name="Image 2" descr="preencoded.png">    </p:cNvPr>
          <p:cNvPicPr>
            <a:picLocks noChangeAspect="1"/>
          </p:cNvPicPr>
          <p:nvPr/>
        </p:nvPicPr>
        <p:blipFill>
          <a:blip r:embed="rId3"/>
          <a:stretch>
            <a:fillRect/>
          </a:stretch>
        </p:blipFill>
        <p:spPr>
          <a:xfrm>
            <a:off x="7299107" y="2667671"/>
            <a:ext cx="260787" cy="260787"/>
          </a:xfrm>
          <a:prstGeom prst="rect">
            <a:avLst/>
          </a:prstGeom>
        </p:spPr>
      </p:pic>
      <p:sp>
        <p:nvSpPr>
          <p:cNvPr id="20" name="Text 15"/>
          <p:cNvSpPr/>
          <p:nvPr/>
        </p:nvSpPr>
        <p:spPr>
          <a:xfrm>
            <a:off x="6217920" y="3200400"/>
            <a:ext cx="2423160" cy="320040"/>
          </a:xfrm>
          <a:prstGeom prst="rect">
            <a:avLst/>
          </a:prstGeom>
          <a:noFill/>
          <a:ln/>
        </p:spPr>
        <p:txBody>
          <a:bodyPr wrap="square" lIns="0" tIns="0" rIns="0" bIns="0" rtlCol="0" anchor="ctr"/>
          <a:lstStyle/>
          <a:p>
            <a:pPr algn="ctr" indent="0" marL="0">
              <a:buNone/>
            </a:pPr>
            <a:r>
              <a:rPr lang="en-US" sz="1400" b="1" spc="100" kern="0" dirty="0">
                <a:solidFill>
                  <a:srgbClr val="C9A227"/>
                </a:solidFill>
                <a:latin typeface="Inter" pitchFamily="34" charset="0"/>
                <a:ea typeface="Inter" pitchFamily="34" charset="-122"/>
                <a:cs typeface="Inter" pitchFamily="34" charset="-120"/>
              </a:rPr>
              <a:t>STRIPE</a:t>
            </a:r>
            <a:endParaRPr lang="en-US" sz="1400" dirty="0"/>
          </a:p>
        </p:txBody>
      </p:sp>
      <p:sp>
        <p:nvSpPr>
          <p:cNvPr id="21" name="Text 16"/>
          <p:cNvSpPr/>
          <p:nvPr/>
        </p:nvSpPr>
        <p:spPr>
          <a:xfrm>
            <a:off x="6355080" y="3566160"/>
            <a:ext cx="2148840" cy="274320"/>
          </a:xfrm>
          <a:prstGeom prst="rect">
            <a:avLst/>
          </a:prstGeom>
          <a:noFill/>
          <a:ln/>
        </p:spPr>
        <p:txBody>
          <a:bodyPr wrap="square" lIns="0" tIns="0" rIns="0" bIns="0" rtlCol="0" anchor="ctr"/>
          <a:lstStyle/>
          <a:p>
            <a:pPr algn="ctr" indent="0" marL="0">
              <a:buNone/>
            </a:pPr>
            <a:r>
              <a:rPr lang="en-US" sz="1100" dirty="0">
                <a:solidFill>
                  <a:srgbClr val="F5F2EA"/>
                </a:solidFill>
                <a:latin typeface="Inter" pitchFamily="34" charset="0"/>
                <a:ea typeface="Inter" pitchFamily="34" charset="-122"/>
                <a:cs typeface="Inter" pitchFamily="34" charset="-120"/>
              </a:rPr>
              <a:t>Paiement des abonnements</a:t>
            </a:r>
            <a:endParaRPr lang="en-US" sz="1100" dirty="0"/>
          </a:p>
        </p:txBody>
      </p:sp>
      <p:sp>
        <p:nvSpPr>
          <p:cNvPr id="22" name="Text 17"/>
          <p:cNvSpPr/>
          <p:nvPr/>
        </p:nvSpPr>
        <p:spPr>
          <a:xfrm>
            <a:off x="6355080" y="3813048"/>
            <a:ext cx="2148840" cy="274320"/>
          </a:xfrm>
          <a:prstGeom prst="rect">
            <a:avLst/>
          </a:prstGeom>
          <a:noFill/>
          <a:ln/>
        </p:spPr>
        <p:txBody>
          <a:bodyPr wrap="square" lIns="0" tIns="0" rIns="0" bIns="0" rtlCol="0" anchor="ctr"/>
          <a:lstStyle/>
          <a:p>
            <a:pPr algn="ctr" indent="0" marL="0">
              <a:buNone/>
            </a:pPr>
            <a:r>
              <a:rPr lang="en-US" sz="1100" dirty="0">
                <a:solidFill>
                  <a:srgbClr val="BDB8AE"/>
                </a:solidFill>
                <a:latin typeface="Inter" pitchFamily="34" charset="0"/>
                <a:ea typeface="Inter" pitchFamily="34" charset="-122"/>
                <a:cs typeface="Inter" pitchFamily="34" charset="-120"/>
              </a:rPr>
              <a:t>Payment Links</a:t>
            </a:r>
            <a:endParaRPr lang="en-US" sz="1100" dirty="0"/>
          </a:p>
        </p:txBody>
      </p:sp>
      <p:sp>
        <p:nvSpPr>
          <p:cNvPr id="23" name="Shape 18"/>
          <p:cNvSpPr/>
          <p:nvPr/>
        </p:nvSpPr>
        <p:spPr>
          <a:xfrm>
            <a:off x="2944368" y="3200400"/>
            <a:ext cx="397764" cy="0"/>
          </a:xfrm>
          <a:prstGeom prst="line">
            <a:avLst/>
          </a:prstGeom>
          <a:noFill/>
          <a:ln w="28575">
            <a:solidFill>
              <a:srgbClr val="C9A227"/>
            </a:solidFill>
            <a:prstDash val="solid"/>
            <a:tailEnd type="triangle"/>
          </a:ln>
        </p:spPr>
      </p:sp>
      <p:sp>
        <p:nvSpPr>
          <p:cNvPr id="24" name="Shape 19"/>
          <p:cNvSpPr/>
          <p:nvPr/>
        </p:nvSpPr>
        <p:spPr>
          <a:xfrm>
            <a:off x="5801868" y="3200400"/>
            <a:ext cx="397764" cy="0"/>
          </a:xfrm>
          <a:prstGeom prst="line">
            <a:avLst/>
          </a:prstGeom>
          <a:noFill/>
          <a:ln w="28575">
            <a:solidFill>
              <a:srgbClr val="C9A227"/>
            </a:solidFill>
            <a:prstDash val="solid"/>
            <a:tailEnd type="triangle"/>
          </a:ln>
        </p:spPr>
      </p:sp>
      <p:sp>
        <p:nvSpPr>
          <p:cNvPr id="25" name="Text 20"/>
          <p:cNvSpPr/>
          <p:nvPr/>
        </p:nvSpPr>
        <p:spPr>
          <a:xfrm>
            <a:off x="2834640" y="2788920"/>
            <a:ext cx="1143000" cy="274320"/>
          </a:xfrm>
          <a:prstGeom prst="rect">
            <a:avLst/>
          </a:prstGeom>
          <a:noFill/>
          <a:ln/>
        </p:spPr>
        <p:txBody>
          <a:bodyPr wrap="square" lIns="0" tIns="0" rIns="0" bIns="0" rtlCol="0" anchor="ctr"/>
          <a:lstStyle/>
          <a:p>
            <a:pPr algn="ctr" indent="0" marL="0">
              <a:buNone/>
            </a:pPr>
            <a:r>
              <a:rPr lang="en-US" sz="900" dirty="0">
                <a:solidFill>
                  <a:srgbClr val="BDB8AE"/>
                </a:solidFill>
                <a:latin typeface="Inter" pitchFamily="34" charset="0"/>
                <a:ea typeface="Inter" pitchFamily="34" charset="-122"/>
                <a:cs typeface="Inter" pitchFamily="34" charset="-120"/>
              </a:rPr>
              <a:t>Données · Auth · RPC</a:t>
            </a:r>
            <a:endParaRPr lang="en-US" sz="900" dirty="0"/>
          </a:p>
        </p:txBody>
      </p:sp>
      <p:sp>
        <p:nvSpPr>
          <p:cNvPr id="26" name="Text 21"/>
          <p:cNvSpPr/>
          <p:nvPr/>
        </p:nvSpPr>
        <p:spPr>
          <a:xfrm>
            <a:off x="5692140" y="2788920"/>
            <a:ext cx="1143000" cy="274320"/>
          </a:xfrm>
          <a:prstGeom prst="rect">
            <a:avLst/>
          </a:prstGeom>
          <a:noFill/>
          <a:ln/>
        </p:spPr>
        <p:txBody>
          <a:bodyPr wrap="square" lIns="0" tIns="0" rIns="0" bIns="0" rtlCol="0" anchor="ctr"/>
          <a:lstStyle/>
          <a:p>
            <a:pPr algn="ctr" indent="0" marL="0">
              <a:buNone/>
            </a:pPr>
            <a:r>
              <a:rPr lang="en-US" sz="900" dirty="0">
                <a:solidFill>
                  <a:srgbClr val="BDB8AE"/>
                </a:solidFill>
                <a:latin typeface="Inter" pitchFamily="34" charset="0"/>
                <a:ea typeface="Inter" pitchFamily="34" charset="-122"/>
                <a:cs typeface="Inter" pitchFamily="34" charset="-120"/>
              </a:rPr>
              <a:t>Vérification paiement</a:t>
            </a:r>
            <a:endParaRPr lang="en-US" sz="900" dirty="0"/>
          </a:p>
        </p:txBody>
      </p:sp>
      <p:sp>
        <p:nvSpPr>
          <p:cNvPr id="27" name="Text 22"/>
          <p:cNvSpPr/>
          <p:nvPr/>
        </p:nvSpPr>
        <p:spPr>
          <a:xfrm>
            <a:off x="548640" y="4370832"/>
            <a:ext cx="8046720" cy="274320"/>
          </a:xfrm>
          <a:prstGeom prst="rect">
            <a:avLst/>
          </a:prstGeom>
          <a:noFill/>
          <a:ln/>
        </p:spPr>
        <p:txBody>
          <a:bodyPr wrap="square" lIns="0" tIns="0" rIns="0" bIns="0" rtlCol="0" anchor="ctr"/>
          <a:lstStyle/>
          <a:p>
            <a:pPr algn="ctr" indent="0" marL="0">
              <a:buNone/>
            </a:pPr>
            <a:r>
              <a:rPr lang="en-US" sz="1050" i="1" dirty="0">
                <a:solidFill>
                  <a:srgbClr val="BDB8AE"/>
                </a:solidFill>
                <a:latin typeface="Inter" pitchFamily="34" charset="0"/>
                <a:ea typeface="Inter" pitchFamily="34" charset="-122"/>
                <a:cs typeface="Inter" pitchFamily="34" charset="-120"/>
              </a:rPr>
              <a:t>Le front est hébergé sur Netlify, dialogue avec Supabase pour les données, et redirige vers Stripe pour le paiement.</a:t>
            </a:r>
            <a:endParaRPr lang="en-US" sz="1050" dirty="0"/>
          </a:p>
        </p:txBody>
      </p:sp>
      <p:sp>
        <p:nvSpPr>
          <p:cNvPr id="28" name="Text 23"/>
          <p:cNvSpPr/>
          <p:nvPr/>
        </p:nvSpPr>
        <p:spPr>
          <a:xfrm>
            <a:off x="548640" y="4818888"/>
            <a:ext cx="2743200" cy="256032"/>
          </a:xfrm>
          <a:prstGeom prst="rect">
            <a:avLst/>
          </a:prstGeom>
          <a:noFill/>
          <a:ln/>
        </p:spPr>
        <p:txBody>
          <a:bodyPr wrap="square" lIns="0" tIns="0" rIns="0" bIns="0" rtlCol="0" anchor="ctr"/>
          <a:lstStyle/>
          <a:p>
            <a:pPr indent="0" marL="0">
              <a:buNone/>
            </a:pPr>
            <a:r>
              <a:rPr lang="en-US" sz="950" b="1" spc="300" kern="0" dirty="0">
                <a:solidFill>
                  <a:srgbClr val="C9A227"/>
                </a:solidFill>
                <a:latin typeface="Inter" pitchFamily="34" charset="0"/>
                <a:ea typeface="Inter" pitchFamily="34" charset="-122"/>
                <a:cs typeface="Inter" pitchFamily="34" charset="-120"/>
              </a:rPr>
              <a:t>THYMOS</a:t>
            </a:r>
            <a:endParaRPr lang="en-US" sz="950" dirty="0"/>
          </a:p>
        </p:txBody>
      </p:sp>
      <p:sp>
        <p:nvSpPr>
          <p:cNvPr id="29" name="Text 24"/>
          <p:cNvSpPr/>
          <p:nvPr/>
        </p:nvSpPr>
        <p:spPr>
          <a:xfrm>
            <a:off x="5852160" y="4818888"/>
            <a:ext cx="2743200" cy="256032"/>
          </a:xfrm>
          <a:prstGeom prst="rect">
            <a:avLst/>
          </a:prstGeom>
          <a:noFill/>
          <a:ln/>
        </p:spPr>
        <p:txBody>
          <a:bodyPr wrap="square" lIns="0" tIns="0" rIns="0" bIns="0" rtlCol="0" anchor="ctr"/>
          <a:lstStyle/>
          <a:p>
            <a:pPr algn="r" indent="0" marL="0">
              <a:buNone/>
            </a:pPr>
            <a:r>
              <a:rPr lang="en-US" sz="950" dirty="0">
                <a:solidFill>
                  <a:srgbClr val="BDB8AE"/>
                </a:solidFill>
                <a:latin typeface="Inter" pitchFamily="34" charset="0"/>
                <a:ea typeface="Inter" pitchFamily="34" charset="-122"/>
                <a:cs typeface="Inter" pitchFamily="34" charset="-120"/>
              </a:rPr>
              <a:t>07 / 11</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6262E"/>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150" b="1" spc="300" kern="0" dirty="0">
                <a:solidFill>
                  <a:srgbClr val="C9A227"/>
                </a:solidFill>
                <a:latin typeface="Inter" pitchFamily="34" charset="0"/>
                <a:ea typeface="Inter" pitchFamily="34" charset="-122"/>
                <a:cs typeface="Inter" pitchFamily="34" charset="-120"/>
              </a:rPr>
              <a:t>FOCUS TECHNIQUE  ·  STRIPE  ·  1 / 3</a:t>
            </a:r>
            <a:endParaRPr lang="en-US" sz="1150" dirty="0"/>
          </a:p>
        </p:txBody>
      </p:sp>
      <p:sp>
        <p:nvSpPr>
          <p:cNvPr id="3" name="Text 1"/>
          <p:cNvSpPr/>
          <p:nvPr/>
        </p:nvSpPr>
        <p:spPr>
          <a:xfrm>
            <a:off x="548640" y="658368"/>
            <a:ext cx="8046720" cy="713232"/>
          </a:xfrm>
          <a:prstGeom prst="rect">
            <a:avLst/>
          </a:prstGeom>
          <a:noFill/>
          <a:ln/>
        </p:spPr>
        <p:txBody>
          <a:bodyPr wrap="square" lIns="0" tIns="0" rIns="0" bIns="0" rtlCol="0" anchor="ctr"/>
          <a:lstStyle/>
          <a:p>
            <a:pPr indent="0" marL="0">
              <a:buNone/>
            </a:pPr>
            <a:r>
              <a:rPr lang="en-US" sz="3000" b="1" spc="100" kern="0" dirty="0">
                <a:solidFill>
                  <a:srgbClr val="F5F2EA"/>
                </a:solidFill>
                <a:latin typeface="Cinzel" pitchFamily="34" charset="0"/>
                <a:ea typeface="Cinzel" pitchFamily="34" charset="-122"/>
                <a:cs typeface="Cinzel" pitchFamily="34" charset="-120"/>
              </a:rPr>
              <a:t>LE BON CHOIX</a:t>
            </a:r>
            <a:endParaRPr lang="en-US" sz="3000" dirty="0"/>
          </a:p>
        </p:txBody>
      </p:sp>
      <p:sp>
        <p:nvSpPr>
          <p:cNvPr id="4" name="Text 2"/>
          <p:cNvSpPr/>
          <p:nvPr/>
        </p:nvSpPr>
        <p:spPr>
          <a:xfrm>
            <a:off x="548640" y="1444752"/>
            <a:ext cx="8046720" cy="457200"/>
          </a:xfrm>
          <a:prstGeom prst="rect">
            <a:avLst/>
          </a:prstGeom>
          <a:noFill/>
          <a:ln/>
        </p:spPr>
        <p:txBody>
          <a:bodyPr wrap="square" lIns="0" tIns="0" rIns="0" bIns="0" rtlCol="0" anchor="ctr"/>
          <a:lstStyle/>
          <a:p>
            <a:pPr indent="0" marL="0">
              <a:buNone/>
            </a:pPr>
            <a:r>
              <a:rPr lang="en-US" sz="1500" dirty="0">
                <a:solidFill>
                  <a:srgbClr val="F5F2EA"/>
                </a:solidFill>
                <a:latin typeface="Inter" pitchFamily="34" charset="0"/>
                <a:ea typeface="Inter" pitchFamily="34" charset="-122"/>
                <a:cs typeface="Inter" pitchFamily="34" charset="-120"/>
              </a:rPr>
              <a:t>Encaisser des abonnements récurrents sans gérer la sécurité des cartes, et sans backend dédié.</a:t>
            </a:r>
            <a:endParaRPr lang="en-US" sz="1500" dirty="0"/>
          </a:p>
        </p:txBody>
      </p:sp>
      <p:sp>
        <p:nvSpPr>
          <p:cNvPr id="5" name="Shape 3"/>
          <p:cNvSpPr/>
          <p:nvPr/>
        </p:nvSpPr>
        <p:spPr>
          <a:xfrm>
            <a:off x="548640" y="2194560"/>
            <a:ext cx="2468880" cy="2148840"/>
          </a:xfrm>
          <a:prstGeom prst="roundRect">
            <a:avLst>
              <a:gd name="adj" fmla="val 2553"/>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6" name="Shape 4"/>
          <p:cNvSpPr/>
          <p:nvPr/>
        </p:nvSpPr>
        <p:spPr>
          <a:xfrm>
            <a:off x="1508760" y="2450592"/>
            <a:ext cx="548640" cy="548640"/>
          </a:xfrm>
          <a:prstGeom prst="ellipse">
            <a:avLst/>
          </a:prstGeom>
          <a:solidFill>
            <a:srgbClr val="3A2326"/>
          </a:solidFill>
          <a:ln w="19050">
            <a:solidFill>
              <a:srgbClr val="C1121F"/>
            </a:solidFill>
            <a:prstDash val="solid"/>
          </a:ln>
        </p:spPr>
      </p:sp>
      <p:pic>
        <p:nvPicPr>
          <p:cNvPr id="7" name="Image 0" descr="preencoded.png">    </p:cNvPr>
          <p:cNvPicPr>
            <a:picLocks noChangeAspect="1"/>
          </p:cNvPicPr>
          <p:nvPr/>
        </p:nvPicPr>
        <p:blipFill>
          <a:blip r:embed="rId1"/>
          <a:stretch>
            <a:fillRect/>
          </a:stretch>
        </p:blipFill>
        <p:spPr>
          <a:xfrm>
            <a:off x="1645920" y="2587752"/>
            <a:ext cx="274320" cy="274320"/>
          </a:xfrm>
          <a:prstGeom prst="rect">
            <a:avLst/>
          </a:prstGeom>
        </p:spPr>
      </p:pic>
      <p:sp>
        <p:nvSpPr>
          <p:cNvPr id="8" name="Text 5"/>
          <p:cNvSpPr/>
          <p:nvPr/>
        </p:nvSpPr>
        <p:spPr>
          <a:xfrm>
            <a:off x="731520" y="3108960"/>
            <a:ext cx="2103120" cy="502920"/>
          </a:xfrm>
          <a:prstGeom prst="rect">
            <a:avLst/>
          </a:prstGeom>
          <a:noFill/>
          <a:ln/>
        </p:spPr>
        <p:txBody>
          <a:bodyPr wrap="square" lIns="0" tIns="0" rIns="0" bIns="0" rtlCol="0" anchor="ctr"/>
          <a:lstStyle/>
          <a:p>
            <a:pPr algn="ctr" indent="0" marL="0">
              <a:buNone/>
            </a:pPr>
            <a:r>
              <a:rPr lang="en-US" sz="1400" b="1" dirty="0">
                <a:solidFill>
                  <a:srgbClr val="F5F2EA"/>
                </a:solidFill>
                <a:latin typeface="Inter" pitchFamily="34" charset="0"/>
                <a:ea typeface="Inter" pitchFamily="34" charset="-122"/>
                <a:cs typeface="Inter" pitchFamily="34" charset="-120"/>
              </a:rPr>
              <a:t>Collecte maison</a:t>
            </a:r>
            <a:endParaRPr lang="en-US" sz="1400" dirty="0"/>
          </a:p>
        </p:txBody>
      </p:sp>
      <p:sp>
        <p:nvSpPr>
          <p:cNvPr id="9" name="Text 6"/>
          <p:cNvSpPr/>
          <p:nvPr/>
        </p:nvSpPr>
        <p:spPr>
          <a:xfrm>
            <a:off x="777240" y="3611880"/>
            <a:ext cx="2011680" cy="640080"/>
          </a:xfrm>
          <a:prstGeom prst="rect">
            <a:avLst/>
          </a:prstGeom>
          <a:noFill/>
          <a:ln/>
        </p:spPr>
        <p:txBody>
          <a:bodyPr wrap="square" lIns="0" tIns="0" rIns="0" bIns="0" rtlCol="0" anchor="ctr"/>
          <a:lstStyle/>
          <a:p>
            <a:pPr algn="ctr" indent="0" marL="0">
              <a:buNone/>
            </a:pPr>
            <a:r>
              <a:rPr lang="en-US" sz="1150" dirty="0">
                <a:solidFill>
                  <a:srgbClr val="BDB8AE"/>
                </a:solidFill>
                <a:latin typeface="Inter" pitchFamily="34" charset="0"/>
                <a:ea typeface="Inter" pitchFamily="34" charset="-122"/>
                <a:cs typeface="Inter" pitchFamily="34" charset="-120"/>
              </a:rPr>
              <a:t>Saisie des cartes sur THYMOS. Risque de sécurité majeur.</a:t>
            </a:r>
            <a:endParaRPr lang="en-US" sz="1150" dirty="0"/>
          </a:p>
        </p:txBody>
      </p:sp>
      <p:sp>
        <p:nvSpPr>
          <p:cNvPr id="10" name="Shape 7"/>
          <p:cNvSpPr/>
          <p:nvPr/>
        </p:nvSpPr>
        <p:spPr>
          <a:xfrm>
            <a:off x="3337560" y="2194560"/>
            <a:ext cx="2468880" cy="2148840"/>
          </a:xfrm>
          <a:prstGeom prst="roundRect">
            <a:avLst>
              <a:gd name="adj" fmla="val 2553"/>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1" name="Shape 8"/>
          <p:cNvSpPr/>
          <p:nvPr/>
        </p:nvSpPr>
        <p:spPr>
          <a:xfrm>
            <a:off x="4297680" y="2450592"/>
            <a:ext cx="548640" cy="548640"/>
          </a:xfrm>
          <a:prstGeom prst="ellipse">
            <a:avLst/>
          </a:prstGeom>
          <a:solidFill>
            <a:srgbClr val="3C3C48"/>
          </a:solidFill>
          <a:ln w="19050">
            <a:solidFill>
              <a:srgbClr val="44444F"/>
            </a:solidFill>
            <a:prstDash val="solid"/>
          </a:ln>
        </p:spPr>
      </p:sp>
      <p:pic>
        <p:nvPicPr>
          <p:cNvPr id="12" name="Image 1" descr="preencoded.png">    </p:cNvPr>
          <p:cNvPicPr>
            <a:picLocks noChangeAspect="1"/>
          </p:cNvPicPr>
          <p:nvPr/>
        </p:nvPicPr>
        <p:blipFill>
          <a:blip r:embed="rId2"/>
          <a:stretch>
            <a:fillRect/>
          </a:stretch>
        </p:blipFill>
        <p:spPr>
          <a:xfrm>
            <a:off x="4434840" y="2587752"/>
            <a:ext cx="274320" cy="274320"/>
          </a:xfrm>
          <a:prstGeom prst="rect">
            <a:avLst/>
          </a:prstGeom>
        </p:spPr>
      </p:pic>
      <p:sp>
        <p:nvSpPr>
          <p:cNvPr id="13" name="Text 9"/>
          <p:cNvSpPr/>
          <p:nvPr/>
        </p:nvSpPr>
        <p:spPr>
          <a:xfrm>
            <a:off x="3520440" y="3108960"/>
            <a:ext cx="2103120" cy="502920"/>
          </a:xfrm>
          <a:prstGeom prst="rect">
            <a:avLst/>
          </a:prstGeom>
          <a:noFill/>
          <a:ln/>
        </p:spPr>
        <p:txBody>
          <a:bodyPr wrap="square" lIns="0" tIns="0" rIns="0" bIns="0" rtlCol="0" anchor="ctr"/>
          <a:lstStyle/>
          <a:p>
            <a:pPr algn="ctr" indent="0" marL="0">
              <a:buNone/>
            </a:pPr>
            <a:r>
              <a:rPr lang="en-US" sz="1400" b="1" dirty="0">
                <a:solidFill>
                  <a:srgbClr val="F5F2EA"/>
                </a:solidFill>
                <a:latin typeface="Inter" pitchFamily="34" charset="0"/>
                <a:ea typeface="Inter" pitchFamily="34" charset="-122"/>
                <a:cs typeface="Inter" pitchFamily="34" charset="-120"/>
              </a:rPr>
              <a:t>API Checkout custom</a:t>
            </a:r>
            <a:endParaRPr lang="en-US" sz="1400" dirty="0"/>
          </a:p>
        </p:txBody>
      </p:sp>
      <p:sp>
        <p:nvSpPr>
          <p:cNvPr id="14" name="Text 10"/>
          <p:cNvSpPr/>
          <p:nvPr/>
        </p:nvSpPr>
        <p:spPr>
          <a:xfrm>
            <a:off x="3566160" y="3611880"/>
            <a:ext cx="2011680" cy="640080"/>
          </a:xfrm>
          <a:prstGeom prst="rect">
            <a:avLst/>
          </a:prstGeom>
          <a:noFill/>
          <a:ln/>
        </p:spPr>
        <p:txBody>
          <a:bodyPr wrap="square" lIns="0" tIns="0" rIns="0" bIns="0" rtlCol="0" anchor="ctr"/>
          <a:lstStyle/>
          <a:p>
            <a:pPr algn="ctr" indent="0" marL="0">
              <a:buNone/>
            </a:pPr>
            <a:r>
              <a:rPr lang="en-US" sz="1150" dirty="0">
                <a:solidFill>
                  <a:srgbClr val="BDB8AE"/>
                </a:solidFill>
                <a:latin typeface="Inter" pitchFamily="34" charset="0"/>
                <a:ea typeface="Inter" pitchFamily="34" charset="-122"/>
                <a:cs typeface="Inter" pitchFamily="34" charset="-120"/>
              </a:rPr>
              <a:t>Puissant, mais demande un backend à développer et maintenir.</a:t>
            </a:r>
            <a:endParaRPr lang="en-US" sz="1150" dirty="0"/>
          </a:p>
        </p:txBody>
      </p:sp>
      <p:sp>
        <p:nvSpPr>
          <p:cNvPr id="15" name="Shape 11"/>
          <p:cNvSpPr/>
          <p:nvPr/>
        </p:nvSpPr>
        <p:spPr>
          <a:xfrm>
            <a:off x="6126480" y="2194560"/>
            <a:ext cx="2468880" cy="2148840"/>
          </a:xfrm>
          <a:prstGeom prst="roundRect">
            <a:avLst>
              <a:gd name="adj" fmla="val 2553"/>
            </a:avLst>
          </a:prstGeom>
          <a:solidFill>
            <a:srgbClr val="3C3C48"/>
          </a:solidFill>
          <a:ln w="22225">
            <a:solidFill>
              <a:srgbClr val="C9A227"/>
            </a:solidFill>
            <a:prstDash val="solid"/>
          </a:ln>
          <a:effectLst>
            <a:outerShdw sx="100000" sy="100000" kx="0" ky="0" algn="bl" rotWithShape="0" blurRad="114300" dist="38100" dir="5400000">
              <a:srgbClr val="000000">
                <a:alpha val="50000"/>
              </a:srgbClr>
            </a:outerShdw>
          </a:effectLst>
        </p:spPr>
      </p:sp>
      <p:sp>
        <p:nvSpPr>
          <p:cNvPr id="16" name="Shape 12"/>
          <p:cNvSpPr/>
          <p:nvPr/>
        </p:nvSpPr>
        <p:spPr>
          <a:xfrm>
            <a:off x="7086600" y="2450592"/>
            <a:ext cx="548640" cy="548640"/>
          </a:xfrm>
          <a:prstGeom prst="ellipse">
            <a:avLst/>
          </a:prstGeom>
          <a:solidFill>
            <a:srgbClr val="C9A227"/>
          </a:solidFill>
          <a:ln w="19050">
            <a:solidFill>
              <a:srgbClr val="C9A227"/>
            </a:solidFill>
            <a:prstDash val="solid"/>
          </a:ln>
        </p:spPr>
      </p:sp>
      <p:pic>
        <p:nvPicPr>
          <p:cNvPr id="17" name="Image 2" descr="preencoded.png">    </p:cNvPr>
          <p:cNvPicPr>
            <a:picLocks noChangeAspect="1"/>
          </p:cNvPicPr>
          <p:nvPr/>
        </p:nvPicPr>
        <p:blipFill>
          <a:blip r:embed="rId3"/>
          <a:stretch>
            <a:fillRect/>
          </a:stretch>
        </p:blipFill>
        <p:spPr>
          <a:xfrm>
            <a:off x="7223760" y="2587752"/>
            <a:ext cx="274320" cy="274320"/>
          </a:xfrm>
          <a:prstGeom prst="rect">
            <a:avLst/>
          </a:prstGeom>
        </p:spPr>
      </p:pic>
      <p:sp>
        <p:nvSpPr>
          <p:cNvPr id="18" name="Text 13"/>
          <p:cNvSpPr/>
          <p:nvPr/>
        </p:nvSpPr>
        <p:spPr>
          <a:xfrm>
            <a:off x="6309360" y="3108960"/>
            <a:ext cx="2103120" cy="502920"/>
          </a:xfrm>
          <a:prstGeom prst="rect">
            <a:avLst/>
          </a:prstGeom>
          <a:noFill/>
          <a:ln/>
        </p:spPr>
        <p:txBody>
          <a:bodyPr wrap="square" lIns="0" tIns="0" rIns="0" bIns="0" rtlCol="0" anchor="ctr"/>
          <a:lstStyle/>
          <a:p>
            <a:pPr algn="ctr" indent="0" marL="0">
              <a:buNone/>
            </a:pPr>
            <a:r>
              <a:rPr lang="en-US" sz="1400" b="1" dirty="0">
                <a:solidFill>
                  <a:srgbClr val="E6C765"/>
                </a:solidFill>
                <a:latin typeface="Inter" pitchFamily="34" charset="0"/>
                <a:ea typeface="Inter" pitchFamily="34" charset="-122"/>
                <a:cs typeface="Inter" pitchFamily="34" charset="-120"/>
              </a:rPr>
              <a:t>Stripe Payment Links</a:t>
            </a:r>
            <a:endParaRPr lang="en-US" sz="1400" dirty="0"/>
          </a:p>
        </p:txBody>
      </p:sp>
      <p:sp>
        <p:nvSpPr>
          <p:cNvPr id="19" name="Text 14"/>
          <p:cNvSpPr/>
          <p:nvPr/>
        </p:nvSpPr>
        <p:spPr>
          <a:xfrm>
            <a:off x="6355080" y="3611880"/>
            <a:ext cx="2011680" cy="640080"/>
          </a:xfrm>
          <a:prstGeom prst="rect">
            <a:avLst/>
          </a:prstGeom>
          <a:noFill/>
          <a:ln/>
        </p:spPr>
        <p:txBody>
          <a:bodyPr wrap="square" lIns="0" tIns="0" rIns="0" bIns="0" rtlCol="0" anchor="ctr"/>
          <a:lstStyle/>
          <a:p>
            <a:pPr algn="ctr" indent="0" marL="0">
              <a:buNone/>
            </a:pPr>
            <a:r>
              <a:rPr lang="en-US" sz="1150" dirty="0">
                <a:solidFill>
                  <a:srgbClr val="BDB8AE"/>
                </a:solidFill>
                <a:latin typeface="Inter" pitchFamily="34" charset="0"/>
                <a:ea typeface="Inter" pitchFamily="34" charset="-122"/>
                <a:cs typeface="Inter" pitchFamily="34" charset="-120"/>
              </a:rPr>
              <a:t>Page de paiement hébergée par Stripe. Zéro backend.</a:t>
            </a:r>
            <a:endParaRPr lang="en-US" sz="1150" dirty="0"/>
          </a:p>
        </p:txBody>
      </p:sp>
      <p:sp>
        <p:nvSpPr>
          <p:cNvPr id="20" name="Text 15"/>
          <p:cNvSpPr/>
          <p:nvPr/>
        </p:nvSpPr>
        <p:spPr>
          <a:xfrm>
            <a:off x="548640" y="4398264"/>
            <a:ext cx="8046720" cy="274320"/>
          </a:xfrm>
          <a:prstGeom prst="rect">
            <a:avLst/>
          </a:prstGeom>
          <a:noFill/>
          <a:ln/>
        </p:spPr>
        <p:txBody>
          <a:bodyPr wrap="square" lIns="0" tIns="0" rIns="0" bIns="0" rtlCol="0" anchor="ctr"/>
          <a:lstStyle/>
          <a:p>
            <a:pPr algn="ctr" indent="0" marL="0">
              <a:buNone/>
            </a:pPr>
            <a:r>
              <a:rPr lang="en-US" sz="1150" i="1" dirty="0">
                <a:solidFill>
                  <a:srgbClr val="C9A227"/>
                </a:solidFill>
                <a:latin typeface="Inter" pitchFamily="34" charset="0"/>
                <a:ea typeface="Inter" pitchFamily="34" charset="-122"/>
                <a:cs typeface="Inter" pitchFamily="34" charset="-120"/>
              </a:rPr>
              <a:t>Décision : 0 backend à maintenir, mise en place rapide, conformité déléguée à Stripe.</a:t>
            </a:r>
            <a:endParaRPr lang="en-US" sz="1150" dirty="0"/>
          </a:p>
        </p:txBody>
      </p:sp>
      <p:sp>
        <p:nvSpPr>
          <p:cNvPr id="21" name="Text 16"/>
          <p:cNvSpPr/>
          <p:nvPr/>
        </p:nvSpPr>
        <p:spPr>
          <a:xfrm>
            <a:off x="548640" y="4818888"/>
            <a:ext cx="2743200" cy="256032"/>
          </a:xfrm>
          <a:prstGeom prst="rect">
            <a:avLst/>
          </a:prstGeom>
          <a:noFill/>
          <a:ln/>
        </p:spPr>
        <p:txBody>
          <a:bodyPr wrap="square" lIns="0" tIns="0" rIns="0" bIns="0" rtlCol="0" anchor="ctr"/>
          <a:lstStyle/>
          <a:p>
            <a:pPr indent="0" marL="0">
              <a:buNone/>
            </a:pPr>
            <a:r>
              <a:rPr lang="en-US" sz="950" b="1" spc="300" kern="0" dirty="0">
                <a:solidFill>
                  <a:srgbClr val="C9A227"/>
                </a:solidFill>
                <a:latin typeface="Inter" pitchFamily="34" charset="0"/>
                <a:ea typeface="Inter" pitchFamily="34" charset="-122"/>
                <a:cs typeface="Inter" pitchFamily="34" charset="-120"/>
              </a:rPr>
              <a:t>THYMOS</a:t>
            </a:r>
            <a:endParaRPr lang="en-US" sz="950" dirty="0"/>
          </a:p>
        </p:txBody>
      </p:sp>
      <p:sp>
        <p:nvSpPr>
          <p:cNvPr id="22" name="Text 17"/>
          <p:cNvSpPr/>
          <p:nvPr/>
        </p:nvSpPr>
        <p:spPr>
          <a:xfrm>
            <a:off x="5852160" y="4818888"/>
            <a:ext cx="2743200" cy="256032"/>
          </a:xfrm>
          <a:prstGeom prst="rect">
            <a:avLst/>
          </a:prstGeom>
          <a:noFill/>
          <a:ln/>
        </p:spPr>
        <p:txBody>
          <a:bodyPr wrap="square" lIns="0" tIns="0" rIns="0" bIns="0" rtlCol="0" anchor="ctr"/>
          <a:lstStyle/>
          <a:p>
            <a:pPr algn="r" indent="0" marL="0">
              <a:buNone/>
            </a:pPr>
            <a:r>
              <a:rPr lang="en-US" sz="950" dirty="0">
                <a:solidFill>
                  <a:srgbClr val="BDB8AE"/>
                </a:solidFill>
                <a:latin typeface="Inter" pitchFamily="34" charset="0"/>
                <a:ea typeface="Inter" pitchFamily="34" charset="-122"/>
                <a:cs typeface="Inter" pitchFamily="34" charset="-120"/>
              </a:rPr>
              <a:t>08 / 11</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6262E"/>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150" b="1" spc="300" kern="0" dirty="0">
                <a:solidFill>
                  <a:srgbClr val="C9A227"/>
                </a:solidFill>
                <a:latin typeface="Inter" pitchFamily="34" charset="0"/>
                <a:ea typeface="Inter" pitchFamily="34" charset="-122"/>
                <a:cs typeface="Inter" pitchFamily="34" charset="-120"/>
              </a:rPr>
              <a:t>FOCUS TECHNIQUE  ·  STRIPE  ·  2 / 3</a:t>
            </a:r>
            <a:endParaRPr lang="en-US" sz="1150" dirty="0"/>
          </a:p>
        </p:txBody>
      </p:sp>
      <p:sp>
        <p:nvSpPr>
          <p:cNvPr id="3" name="Text 1"/>
          <p:cNvSpPr/>
          <p:nvPr/>
        </p:nvSpPr>
        <p:spPr>
          <a:xfrm>
            <a:off x="548640" y="658368"/>
            <a:ext cx="8046720" cy="713232"/>
          </a:xfrm>
          <a:prstGeom prst="rect">
            <a:avLst/>
          </a:prstGeom>
          <a:noFill/>
          <a:ln/>
        </p:spPr>
        <p:txBody>
          <a:bodyPr wrap="square" lIns="0" tIns="0" rIns="0" bIns="0" rtlCol="0" anchor="ctr"/>
          <a:lstStyle/>
          <a:p>
            <a:pPr indent="0" marL="0">
              <a:buNone/>
            </a:pPr>
            <a:r>
              <a:rPr lang="en-US" sz="3000" b="1" spc="100" kern="0" dirty="0">
                <a:solidFill>
                  <a:srgbClr val="F5F2EA"/>
                </a:solidFill>
                <a:latin typeface="Cinzel" pitchFamily="34" charset="0"/>
                <a:ea typeface="Cinzel" pitchFamily="34" charset="-122"/>
                <a:cs typeface="Cinzel" pitchFamily="34" charset="-120"/>
              </a:rPr>
              <a:t>SÉCURITÉ &amp; FLUX</a:t>
            </a:r>
            <a:endParaRPr lang="en-US" sz="3000" dirty="0"/>
          </a:p>
        </p:txBody>
      </p:sp>
      <p:sp>
        <p:nvSpPr>
          <p:cNvPr id="4" name="Text 2"/>
          <p:cNvSpPr/>
          <p:nvPr/>
        </p:nvSpPr>
        <p:spPr>
          <a:xfrm>
            <a:off x="548640" y="1426464"/>
            <a:ext cx="8046720" cy="411480"/>
          </a:xfrm>
          <a:prstGeom prst="rect">
            <a:avLst/>
          </a:prstGeom>
          <a:noFill/>
          <a:ln/>
        </p:spPr>
        <p:txBody>
          <a:bodyPr wrap="square" lIns="0" tIns="0" rIns="0" bIns="0" rtlCol="0" anchor="ctr"/>
          <a:lstStyle/>
          <a:p>
            <a:pPr indent="0" marL="0">
              <a:buNone/>
            </a:pPr>
            <a:r>
              <a:rPr lang="en-US" sz="1400" b="1" dirty="0">
                <a:solidFill>
                  <a:srgbClr val="E6C765"/>
                </a:solidFill>
                <a:latin typeface="Inter" pitchFamily="34" charset="0"/>
                <a:ea typeface="Inter" pitchFamily="34" charset="-122"/>
                <a:cs typeface="Inter" pitchFamily="34" charset="-120"/>
              </a:rPr>
              <a:t>THYMOS ne manipule jamais de numéro de carte. </a:t>
            </a:r>
            <a:pPr indent="0" marL="0">
              <a:buNone/>
            </a:pPr>
            <a:r>
              <a:rPr lang="en-US" sz="1400" dirty="0">
                <a:solidFill>
                  <a:srgbClr val="BDB8AE"/>
                </a:solidFill>
                <a:latin typeface="Inter" pitchFamily="34" charset="0"/>
                <a:ea typeface="Inter" pitchFamily="34" charset="-122"/>
                <a:cs typeface="Inter" pitchFamily="34" charset="-120"/>
              </a:rPr>
              <a:t>Tout se passe sur la page hébergée par Stripe (conformité PCI-DSS).</a:t>
            </a:r>
            <a:endParaRPr lang="en-US" sz="1400" dirty="0"/>
          </a:p>
        </p:txBody>
      </p:sp>
      <p:sp>
        <p:nvSpPr>
          <p:cNvPr id="5" name="Shape 3"/>
          <p:cNvSpPr/>
          <p:nvPr/>
        </p:nvSpPr>
        <p:spPr>
          <a:xfrm>
            <a:off x="457200" y="2057400"/>
            <a:ext cx="1411834" cy="1188720"/>
          </a:xfrm>
          <a:prstGeom prst="roundRect">
            <a:avLst>
              <a:gd name="adj" fmla="val 4615"/>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6" name="Shape 4"/>
          <p:cNvSpPr/>
          <p:nvPr/>
        </p:nvSpPr>
        <p:spPr>
          <a:xfrm>
            <a:off x="971093" y="2203704"/>
            <a:ext cx="384048" cy="384048"/>
          </a:xfrm>
          <a:prstGeom prst="ellipse">
            <a:avLst/>
          </a:prstGeom>
          <a:solidFill>
            <a:srgbClr val="2A2A33"/>
          </a:solidFill>
          <a:ln w="15875">
            <a:solidFill>
              <a:srgbClr val="C9A227"/>
            </a:solidFill>
            <a:prstDash val="solid"/>
          </a:ln>
        </p:spPr>
      </p:sp>
      <p:sp>
        <p:nvSpPr>
          <p:cNvPr id="7" name="Text 5"/>
          <p:cNvSpPr/>
          <p:nvPr/>
        </p:nvSpPr>
        <p:spPr>
          <a:xfrm>
            <a:off x="971093" y="2203704"/>
            <a:ext cx="384048" cy="384048"/>
          </a:xfrm>
          <a:prstGeom prst="rect">
            <a:avLst/>
          </a:prstGeom>
          <a:noFill/>
          <a:ln/>
        </p:spPr>
        <p:txBody>
          <a:bodyPr wrap="square" lIns="0" tIns="0" rIns="0" bIns="0" rtlCol="0" anchor="ctr"/>
          <a:lstStyle/>
          <a:p>
            <a:pPr algn="ctr" indent="0" marL="0">
              <a:buNone/>
            </a:pPr>
            <a:r>
              <a:rPr lang="en-US" sz="1500" b="1" dirty="0">
                <a:solidFill>
                  <a:srgbClr val="C9A227"/>
                </a:solidFill>
                <a:latin typeface="Inter" pitchFamily="34" charset="0"/>
                <a:ea typeface="Inter" pitchFamily="34" charset="-122"/>
                <a:cs typeface="Inter" pitchFamily="34" charset="-120"/>
              </a:rPr>
              <a:t>1</a:t>
            </a:r>
            <a:endParaRPr lang="en-US" sz="1500" dirty="0"/>
          </a:p>
        </p:txBody>
      </p:sp>
      <p:sp>
        <p:nvSpPr>
          <p:cNvPr id="8" name="Text 6"/>
          <p:cNvSpPr/>
          <p:nvPr/>
        </p:nvSpPr>
        <p:spPr>
          <a:xfrm>
            <a:off x="502920" y="2642616"/>
            <a:ext cx="1320394" cy="292608"/>
          </a:xfrm>
          <a:prstGeom prst="rect">
            <a:avLst/>
          </a:prstGeom>
          <a:noFill/>
          <a:ln/>
        </p:spPr>
        <p:txBody>
          <a:bodyPr wrap="square" lIns="0" tIns="0" rIns="0" bIns="0" rtlCol="0" anchor="ctr"/>
          <a:lstStyle/>
          <a:p>
            <a:pPr algn="ctr" indent="0" marL="0">
              <a:buNone/>
            </a:pPr>
            <a:r>
              <a:rPr lang="en-US" sz="1250" b="1" dirty="0">
                <a:solidFill>
                  <a:srgbClr val="F5F2EA"/>
                </a:solidFill>
                <a:latin typeface="Inter" pitchFamily="34" charset="0"/>
                <a:ea typeface="Inter" pitchFamily="34" charset="-122"/>
                <a:cs typeface="Inter" pitchFamily="34" charset="-120"/>
              </a:rPr>
              <a:t>Landing</a:t>
            </a:r>
            <a:endParaRPr lang="en-US" sz="1250" dirty="0"/>
          </a:p>
        </p:txBody>
      </p:sp>
      <p:sp>
        <p:nvSpPr>
          <p:cNvPr id="9" name="Text 7"/>
          <p:cNvSpPr/>
          <p:nvPr/>
        </p:nvSpPr>
        <p:spPr>
          <a:xfrm>
            <a:off x="502920" y="2926080"/>
            <a:ext cx="1320394" cy="274320"/>
          </a:xfrm>
          <a:prstGeom prst="rect">
            <a:avLst/>
          </a:prstGeom>
          <a:noFill/>
          <a:ln/>
        </p:spPr>
        <p:txBody>
          <a:bodyPr wrap="square" lIns="0" tIns="0" rIns="0" bIns="0" rtlCol="0" anchor="ctr"/>
          <a:lstStyle/>
          <a:p>
            <a:pPr algn="ctr" indent="0" marL="0">
              <a:buNone/>
            </a:pPr>
            <a:r>
              <a:rPr lang="en-US" sz="900" dirty="0">
                <a:solidFill>
                  <a:srgbClr val="BDB8AE"/>
                </a:solidFill>
                <a:latin typeface="Inter" pitchFamily="34" charset="0"/>
                <a:ea typeface="Inter" pitchFamily="34" charset="-122"/>
                <a:cs typeface="Inter" pitchFamily="34" charset="-120"/>
              </a:rPr>
              <a:t>Grille tarifaire</a:t>
            </a:r>
            <a:endParaRPr lang="en-US" sz="900" dirty="0"/>
          </a:p>
        </p:txBody>
      </p:sp>
      <p:sp>
        <p:nvSpPr>
          <p:cNvPr id="10" name="Shape 8"/>
          <p:cNvSpPr/>
          <p:nvPr/>
        </p:nvSpPr>
        <p:spPr>
          <a:xfrm>
            <a:off x="1896466" y="2395728"/>
            <a:ext cx="237744" cy="0"/>
          </a:xfrm>
          <a:prstGeom prst="line">
            <a:avLst/>
          </a:prstGeom>
          <a:noFill/>
          <a:ln w="25400">
            <a:solidFill>
              <a:srgbClr val="C9A227"/>
            </a:solidFill>
            <a:prstDash val="solid"/>
            <a:tailEnd type="triangle"/>
          </a:ln>
        </p:spPr>
      </p:sp>
      <p:sp>
        <p:nvSpPr>
          <p:cNvPr id="11" name="Shape 9"/>
          <p:cNvSpPr/>
          <p:nvPr/>
        </p:nvSpPr>
        <p:spPr>
          <a:xfrm>
            <a:off x="2161642" y="2057400"/>
            <a:ext cx="1411834" cy="1188720"/>
          </a:xfrm>
          <a:prstGeom prst="roundRect">
            <a:avLst>
              <a:gd name="adj" fmla="val 4615"/>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2" name="Shape 10"/>
          <p:cNvSpPr/>
          <p:nvPr/>
        </p:nvSpPr>
        <p:spPr>
          <a:xfrm>
            <a:off x="2675534" y="2203704"/>
            <a:ext cx="384048" cy="384048"/>
          </a:xfrm>
          <a:prstGeom prst="ellipse">
            <a:avLst/>
          </a:prstGeom>
          <a:solidFill>
            <a:srgbClr val="2A2A33"/>
          </a:solidFill>
          <a:ln w="15875">
            <a:solidFill>
              <a:srgbClr val="C9A227"/>
            </a:solidFill>
            <a:prstDash val="solid"/>
          </a:ln>
        </p:spPr>
      </p:sp>
      <p:sp>
        <p:nvSpPr>
          <p:cNvPr id="13" name="Text 11"/>
          <p:cNvSpPr/>
          <p:nvPr/>
        </p:nvSpPr>
        <p:spPr>
          <a:xfrm>
            <a:off x="2675534" y="2203704"/>
            <a:ext cx="384048" cy="384048"/>
          </a:xfrm>
          <a:prstGeom prst="rect">
            <a:avLst/>
          </a:prstGeom>
          <a:noFill/>
          <a:ln/>
        </p:spPr>
        <p:txBody>
          <a:bodyPr wrap="square" lIns="0" tIns="0" rIns="0" bIns="0" rtlCol="0" anchor="ctr"/>
          <a:lstStyle/>
          <a:p>
            <a:pPr algn="ctr" indent="0" marL="0">
              <a:buNone/>
            </a:pPr>
            <a:r>
              <a:rPr lang="en-US" sz="1500" b="1" dirty="0">
                <a:solidFill>
                  <a:srgbClr val="C9A227"/>
                </a:solidFill>
                <a:latin typeface="Inter" pitchFamily="34" charset="0"/>
                <a:ea typeface="Inter" pitchFamily="34" charset="-122"/>
                <a:cs typeface="Inter" pitchFamily="34" charset="-120"/>
              </a:rPr>
              <a:t>2</a:t>
            </a:r>
            <a:endParaRPr lang="en-US" sz="1500" dirty="0"/>
          </a:p>
        </p:txBody>
      </p:sp>
      <p:sp>
        <p:nvSpPr>
          <p:cNvPr id="14" name="Text 12"/>
          <p:cNvSpPr/>
          <p:nvPr/>
        </p:nvSpPr>
        <p:spPr>
          <a:xfrm>
            <a:off x="2207362" y="2642616"/>
            <a:ext cx="1320394" cy="292608"/>
          </a:xfrm>
          <a:prstGeom prst="rect">
            <a:avLst/>
          </a:prstGeom>
          <a:noFill/>
          <a:ln/>
        </p:spPr>
        <p:txBody>
          <a:bodyPr wrap="square" lIns="0" tIns="0" rIns="0" bIns="0" rtlCol="0" anchor="ctr"/>
          <a:lstStyle/>
          <a:p>
            <a:pPr algn="ctr" indent="0" marL="0">
              <a:buNone/>
            </a:pPr>
            <a:r>
              <a:rPr lang="en-US" sz="1250" b="1" dirty="0">
                <a:solidFill>
                  <a:srgbClr val="F5F2EA"/>
                </a:solidFill>
                <a:latin typeface="Inter" pitchFamily="34" charset="0"/>
                <a:ea typeface="Inter" pitchFamily="34" charset="-122"/>
                <a:cs typeface="Inter" pitchFamily="34" charset="-120"/>
              </a:rPr>
              <a:t>Stripe</a:t>
            </a:r>
            <a:endParaRPr lang="en-US" sz="1250" dirty="0"/>
          </a:p>
        </p:txBody>
      </p:sp>
      <p:sp>
        <p:nvSpPr>
          <p:cNvPr id="15" name="Text 13"/>
          <p:cNvSpPr/>
          <p:nvPr/>
        </p:nvSpPr>
        <p:spPr>
          <a:xfrm>
            <a:off x="2207362" y="2926080"/>
            <a:ext cx="1320394" cy="274320"/>
          </a:xfrm>
          <a:prstGeom prst="rect">
            <a:avLst/>
          </a:prstGeom>
          <a:noFill/>
          <a:ln/>
        </p:spPr>
        <p:txBody>
          <a:bodyPr wrap="square" lIns="0" tIns="0" rIns="0" bIns="0" rtlCol="0" anchor="ctr"/>
          <a:lstStyle/>
          <a:p>
            <a:pPr algn="ctr" indent="0" marL="0">
              <a:buNone/>
            </a:pPr>
            <a:r>
              <a:rPr lang="en-US" sz="900" dirty="0">
                <a:solidFill>
                  <a:srgbClr val="BDB8AE"/>
                </a:solidFill>
                <a:latin typeface="Inter" pitchFamily="34" charset="0"/>
                <a:ea typeface="Inter" pitchFamily="34" charset="-122"/>
                <a:cs typeface="Inter" pitchFamily="34" charset="-120"/>
              </a:rPr>
              <a:t>Paiement hébergé</a:t>
            </a:r>
            <a:endParaRPr lang="en-US" sz="900" dirty="0"/>
          </a:p>
        </p:txBody>
      </p:sp>
      <p:sp>
        <p:nvSpPr>
          <p:cNvPr id="16" name="Shape 14"/>
          <p:cNvSpPr/>
          <p:nvPr/>
        </p:nvSpPr>
        <p:spPr>
          <a:xfrm>
            <a:off x="3600907" y="2395728"/>
            <a:ext cx="237744" cy="0"/>
          </a:xfrm>
          <a:prstGeom prst="line">
            <a:avLst/>
          </a:prstGeom>
          <a:noFill/>
          <a:ln w="25400">
            <a:solidFill>
              <a:srgbClr val="C9A227"/>
            </a:solidFill>
            <a:prstDash val="solid"/>
            <a:tailEnd type="triangle"/>
          </a:ln>
        </p:spPr>
      </p:sp>
      <p:sp>
        <p:nvSpPr>
          <p:cNvPr id="17" name="Shape 15"/>
          <p:cNvSpPr/>
          <p:nvPr/>
        </p:nvSpPr>
        <p:spPr>
          <a:xfrm>
            <a:off x="3866083" y="2057400"/>
            <a:ext cx="1411834" cy="1188720"/>
          </a:xfrm>
          <a:prstGeom prst="roundRect">
            <a:avLst>
              <a:gd name="adj" fmla="val 4615"/>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8" name="Shape 16"/>
          <p:cNvSpPr/>
          <p:nvPr/>
        </p:nvSpPr>
        <p:spPr>
          <a:xfrm>
            <a:off x="4379976" y="2203704"/>
            <a:ext cx="384048" cy="384048"/>
          </a:xfrm>
          <a:prstGeom prst="ellipse">
            <a:avLst/>
          </a:prstGeom>
          <a:solidFill>
            <a:srgbClr val="2A2A33"/>
          </a:solidFill>
          <a:ln w="15875">
            <a:solidFill>
              <a:srgbClr val="C9A227"/>
            </a:solidFill>
            <a:prstDash val="solid"/>
          </a:ln>
        </p:spPr>
      </p:sp>
      <p:sp>
        <p:nvSpPr>
          <p:cNvPr id="19" name="Text 17"/>
          <p:cNvSpPr/>
          <p:nvPr/>
        </p:nvSpPr>
        <p:spPr>
          <a:xfrm>
            <a:off x="4379976" y="2203704"/>
            <a:ext cx="384048" cy="384048"/>
          </a:xfrm>
          <a:prstGeom prst="rect">
            <a:avLst/>
          </a:prstGeom>
          <a:noFill/>
          <a:ln/>
        </p:spPr>
        <p:txBody>
          <a:bodyPr wrap="square" lIns="0" tIns="0" rIns="0" bIns="0" rtlCol="0" anchor="ctr"/>
          <a:lstStyle/>
          <a:p>
            <a:pPr algn="ctr" indent="0" marL="0">
              <a:buNone/>
            </a:pPr>
            <a:r>
              <a:rPr lang="en-US" sz="1500" b="1" dirty="0">
                <a:solidFill>
                  <a:srgbClr val="C9A227"/>
                </a:solidFill>
                <a:latin typeface="Inter" pitchFamily="34" charset="0"/>
                <a:ea typeface="Inter" pitchFamily="34" charset="-122"/>
                <a:cs typeface="Inter" pitchFamily="34" charset="-120"/>
              </a:rPr>
              <a:t>3</a:t>
            </a:r>
            <a:endParaRPr lang="en-US" sz="1500" dirty="0"/>
          </a:p>
        </p:txBody>
      </p:sp>
      <p:sp>
        <p:nvSpPr>
          <p:cNvPr id="20" name="Text 18"/>
          <p:cNvSpPr/>
          <p:nvPr/>
        </p:nvSpPr>
        <p:spPr>
          <a:xfrm>
            <a:off x="3911803" y="2642616"/>
            <a:ext cx="1320394" cy="292608"/>
          </a:xfrm>
          <a:prstGeom prst="rect">
            <a:avLst/>
          </a:prstGeom>
          <a:noFill/>
          <a:ln/>
        </p:spPr>
        <p:txBody>
          <a:bodyPr wrap="square" lIns="0" tIns="0" rIns="0" bIns="0" rtlCol="0" anchor="ctr"/>
          <a:lstStyle/>
          <a:p>
            <a:pPr algn="ctr" indent="0" marL="0">
              <a:buNone/>
            </a:pPr>
            <a:r>
              <a:rPr lang="en-US" sz="1250" b="1" dirty="0">
                <a:solidFill>
                  <a:srgbClr val="F5F2EA"/>
                </a:solidFill>
                <a:latin typeface="Inter" pitchFamily="34" charset="0"/>
                <a:ea typeface="Inter" pitchFamily="34" charset="-122"/>
                <a:cs typeface="Inter" pitchFamily="34" charset="-120"/>
              </a:rPr>
              <a:t>Activation</a:t>
            </a:r>
            <a:endParaRPr lang="en-US" sz="1250" dirty="0"/>
          </a:p>
        </p:txBody>
      </p:sp>
      <p:sp>
        <p:nvSpPr>
          <p:cNvPr id="21" name="Text 19"/>
          <p:cNvSpPr/>
          <p:nvPr/>
        </p:nvSpPr>
        <p:spPr>
          <a:xfrm>
            <a:off x="3911803" y="2926080"/>
            <a:ext cx="1320394" cy="274320"/>
          </a:xfrm>
          <a:prstGeom prst="rect">
            <a:avLst/>
          </a:prstGeom>
          <a:noFill/>
          <a:ln/>
        </p:spPr>
        <p:txBody>
          <a:bodyPr wrap="square" lIns="0" tIns="0" rIns="0" bIns="0" rtlCol="0" anchor="ctr"/>
          <a:lstStyle/>
          <a:p>
            <a:pPr algn="ctr" indent="0" marL="0">
              <a:buNone/>
            </a:pPr>
            <a:r>
              <a:rPr lang="en-US" sz="900" dirty="0">
                <a:solidFill>
                  <a:srgbClr val="BDB8AE"/>
                </a:solidFill>
                <a:latin typeface="Inter" pitchFamily="34" charset="0"/>
                <a:ea typeface="Inter" pitchFamily="34" charset="-122"/>
                <a:cs typeface="Inter" pitchFamily="34" charset="-120"/>
              </a:rPr>
              <a:t>Page de retour</a:t>
            </a:r>
            <a:endParaRPr lang="en-US" sz="900" dirty="0"/>
          </a:p>
        </p:txBody>
      </p:sp>
      <p:sp>
        <p:nvSpPr>
          <p:cNvPr id="22" name="Shape 20"/>
          <p:cNvSpPr/>
          <p:nvPr/>
        </p:nvSpPr>
        <p:spPr>
          <a:xfrm>
            <a:off x="5305349" y="2395728"/>
            <a:ext cx="237744" cy="0"/>
          </a:xfrm>
          <a:prstGeom prst="line">
            <a:avLst/>
          </a:prstGeom>
          <a:noFill/>
          <a:ln w="25400">
            <a:solidFill>
              <a:srgbClr val="C9A227"/>
            </a:solidFill>
            <a:prstDash val="solid"/>
            <a:tailEnd type="triangle"/>
          </a:ln>
        </p:spPr>
      </p:sp>
      <p:sp>
        <p:nvSpPr>
          <p:cNvPr id="23" name="Shape 21"/>
          <p:cNvSpPr/>
          <p:nvPr/>
        </p:nvSpPr>
        <p:spPr>
          <a:xfrm>
            <a:off x="5570525" y="2057400"/>
            <a:ext cx="1411834" cy="1188720"/>
          </a:xfrm>
          <a:prstGeom prst="roundRect">
            <a:avLst>
              <a:gd name="adj" fmla="val 4615"/>
            </a:avLst>
          </a:prstGeom>
          <a:solidFill>
            <a:srgbClr val="3C3C48"/>
          </a:solidFill>
          <a:ln w="19050">
            <a:solidFill>
              <a:srgbClr val="C9A227"/>
            </a:solidFill>
            <a:prstDash val="solid"/>
          </a:ln>
          <a:effectLst>
            <a:outerShdw sx="100000" sy="100000" kx="0" ky="0" algn="bl" rotWithShape="0" blurRad="114300" dist="38100" dir="5400000">
              <a:srgbClr val="000000">
                <a:alpha val="50000"/>
              </a:srgbClr>
            </a:outerShdw>
          </a:effectLst>
        </p:spPr>
      </p:sp>
      <p:sp>
        <p:nvSpPr>
          <p:cNvPr id="24" name="Shape 22"/>
          <p:cNvSpPr/>
          <p:nvPr/>
        </p:nvSpPr>
        <p:spPr>
          <a:xfrm>
            <a:off x="6084418" y="2203704"/>
            <a:ext cx="384048" cy="384048"/>
          </a:xfrm>
          <a:prstGeom prst="ellipse">
            <a:avLst/>
          </a:prstGeom>
          <a:solidFill>
            <a:srgbClr val="C9A227"/>
          </a:solidFill>
          <a:ln w="15875">
            <a:solidFill>
              <a:srgbClr val="C9A227"/>
            </a:solidFill>
            <a:prstDash val="solid"/>
          </a:ln>
        </p:spPr>
      </p:sp>
      <p:sp>
        <p:nvSpPr>
          <p:cNvPr id="25" name="Text 23"/>
          <p:cNvSpPr/>
          <p:nvPr/>
        </p:nvSpPr>
        <p:spPr>
          <a:xfrm>
            <a:off x="6084418" y="2203704"/>
            <a:ext cx="384048" cy="384048"/>
          </a:xfrm>
          <a:prstGeom prst="rect">
            <a:avLst/>
          </a:prstGeom>
          <a:noFill/>
          <a:ln/>
        </p:spPr>
        <p:txBody>
          <a:bodyPr wrap="square" lIns="0" tIns="0" rIns="0" bIns="0" rtlCol="0" anchor="ctr"/>
          <a:lstStyle/>
          <a:p>
            <a:pPr algn="ctr" indent="0" marL="0">
              <a:buNone/>
            </a:pPr>
            <a:r>
              <a:rPr lang="en-US" sz="1500" b="1" dirty="0">
                <a:solidFill>
                  <a:srgbClr val="15151B"/>
                </a:solidFill>
                <a:latin typeface="Inter" pitchFamily="34" charset="0"/>
                <a:ea typeface="Inter" pitchFamily="34" charset="-122"/>
                <a:cs typeface="Inter" pitchFamily="34" charset="-120"/>
              </a:rPr>
              <a:t>4</a:t>
            </a:r>
            <a:endParaRPr lang="en-US" sz="1500" dirty="0"/>
          </a:p>
        </p:txBody>
      </p:sp>
      <p:sp>
        <p:nvSpPr>
          <p:cNvPr id="26" name="Text 24"/>
          <p:cNvSpPr/>
          <p:nvPr/>
        </p:nvSpPr>
        <p:spPr>
          <a:xfrm>
            <a:off x="5616245" y="2642616"/>
            <a:ext cx="1320394" cy="292608"/>
          </a:xfrm>
          <a:prstGeom prst="rect">
            <a:avLst/>
          </a:prstGeom>
          <a:noFill/>
          <a:ln/>
        </p:spPr>
        <p:txBody>
          <a:bodyPr wrap="square" lIns="0" tIns="0" rIns="0" bIns="0" rtlCol="0" anchor="ctr"/>
          <a:lstStyle/>
          <a:p>
            <a:pPr algn="ctr" indent="0" marL="0">
              <a:buNone/>
            </a:pPr>
            <a:r>
              <a:rPr lang="en-US" sz="1250" b="1" dirty="0">
                <a:solidFill>
                  <a:srgbClr val="E6C765"/>
                </a:solidFill>
                <a:latin typeface="Inter" pitchFamily="34" charset="0"/>
                <a:ea typeface="Inter" pitchFamily="34" charset="-122"/>
                <a:cs typeface="Inter" pitchFamily="34" charset="-120"/>
              </a:rPr>
              <a:t>Vérification</a:t>
            </a:r>
            <a:endParaRPr lang="en-US" sz="1250" dirty="0"/>
          </a:p>
        </p:txBody>
      </p:sp>
      <p:sp>
        <p:nvSpPr>
          <p:cNvPr id="27" name="Text 25"/>
          <p:cNvSpPr/>
          <p:nvPr/>
        </p:nvSpPr>
        <p:spPr>
          <a:xfrm>
            <a:off x="5616245" y="2926080"/>
            <a:ext cx="1320394" cy="274320"/>
          </a:xfrm>
          <a:prstGeom prst="rect">
            <a:avLst/>
          </a:prstGeom>
          <a:noFill/>
          <a:ln/>
        </p:spPr>
        <p:txBody>
          <a:bodyPr wrap="square" lIns="0" tIns="0" rIns="0" bIns="0" rtlCol="0" anchor="ctr"/>
          <a:lstStyle/>
          <a:p>
            <a:pPr algn="ctr" indent="0" marL="0">
              <a:buNone/>
            </a:pPr>
            <a:r>
              <a:rPr lang="en-US" sz="900" dirty="0">
                <a:solidFill>
                  <a:srgbClr val="BDB8AE"/>
                </a:solidFill>
                <a:latin typeface="Inter" pitchFamily="34" charset="0"/>
                <a:ea typeface="Inter" pitchFamily="34" charset="-122"/>
                <a:cs typeface="Inter" pitchFamily="34" charset="-120"/>
              </a:rPr>
              <a:t>RPC Supabase</a:t>
            </a:r>
            <a:endParaRPr lang="en-US" sz="900" dirty="0"/>
          </a:p>
        </p:txBody>
      </p:sp>
      <p:sp>
        <p:nvSpPr>
          <p:cNvPr id="28" name="Shape 26"/>
          <p:cNvSpPr/>
          <p:nvPr/>
        </p:nvSpPr>
        <p:spPr>
          <a:xfrm>
            <a:off x="7009790" y="2395728"/>
            <a:ext cx="237744" cy="0"/>
          </a:xfrm>
          <a:prstGeom prst="line">
            <a:avLst/>
          </a:prstGeom>
          <a:noFill/>
          <a:ln w="25400">
            <a:solidFill>
              <a:srgbClr val="C9A227"/>
            </a:solidFill>
            <a:prstDash val="solid"/>
            <a:tailEnd type="triangle"/>
          </a:ln>
        </p:spPr>
      </p:sp>
      <p:sp>
        <p:nvSpPr>
          <p:cNvPr id="29" name="Shape 27"/>
          <p:cNvSpPr/>
          <p:nvPr/>
        </p:nvSpPr>
        <p:spPr>
          <a:xfrm>
            <a:off x="7274966" y="2057400"/>
            <a:ext cx="1411834" cy="1188720"/>
          </a:xfrm>
          <a:prstGeom prst="roundRect">
            <a:avLst>
              <a:gd name="adj" fmla="val 4615"/>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30" name="Shape 28"/>
          <p:cNvSpPr/>
          <p:nvPr/>
        </p:nvSpPr>
        <p:spPr>
          <a:xfrm>
            <a:off x="7788859" y="2203704"/>
            <a:ext cx="384048" cy="384048"/>
          </a:xfrm>
          <a:prstGeom prst="ellipse">
            <a:avLst/>
          </a:prstGeom>
          <a:solidFill>
            <a:srgbClr val="2A2A33"/>
          </a:solidFill>
          <a:ln w="15875">
            <a:solidFill>
              <a:srgbClr val="C9A227"/>
            </a:solidFill>
            <a:prstDash val="solid"/>
          </a:ln>
        </p:spPr>
      </p:sp>
      <p:sp>
        <p:nvSpPr>
          <p:cNvPr id="31" name="Text 29"/>
          <p:cNvSpPr/>
          <p:nvPr/>
        </p:nvSpPr>
        <p:spPr>
          <a:xfrm>
            <a:off x="7788859" y="2203704"/>
            <a:ext cx="384048" cy="384048"/>
          </a:xfrm>
          <a:prstGeom prst="rect">
            <a:avLst/>
          </a:prstGeom>
          <a:noFill/>
          <a:ln/>
        </p:spPr>
        <p:txBody>
          <a:bodyPr wrap="square" lIns="0" tIns="0" rIns="0" bIns="0" rtlCol="0" anchor="ctr"/>
          <a:lstStyle/>
          <a:p>
            <a:pPr algn="ctr" indent="0" marL="0">
              <a:buNone/>
            </a:pPr>
            <a:r>
              <a:rPr lang="en-US" sz="1500" b="1" dirty="0">
                <a:solidFill>
                  <a:srgbClr val="C9A227"/>
                </a:solidFill>
                <a:latin typeface="Inter" pitchFamily="34" charset="0"/>
                <a:ea typeface="Inter" pitchFamily="34" charset="-122"/>
                <a:cs typeface="Inter" pitchFamily="34" charset="-120"/>
              </a:rPr>
              <a:t>5</a:t>
            </a:r>
            <a:endParaRPr lang="en-US" sz="1500" dirty="0"/>
          </a:p>
        </p:txBody>
      </p:sp>
      <p:sp>
        <p:nvSpPr>
          <p:cNvPr id="32" name="Text 30"/>
          <p:cNvSpPr/>
          <p:nvPr/>
        </p:nvSpPr>
        <p:spPr>
          <a:xfrm>
            <a:off x="7320686" y="2642616"/>
            <a:ext cx="1320394" cy="292608"/>
          </a:xfrm>
          <a:prstGeom prst="rect">
            <a:avLst/>
          </a:prstGeom>
          <a:noFill/>
          <a:ln/>
        </p:spPr>
        <p:txBody>
          <a:bodyPr wrap="square" lIns="0" tIns="0" rIns="0" bIns="0" rtlCol="0" anchor="ctr"/>
          <a:lstStyle/>
          <a:p>
            <a:pPr algn="ctr" indent="0" marL="0">
              <a:buNone/>
            </a:pPr>
            <a:r>
              <a:rPr lang="en-US" sz="1250" b="1" dirty="0">
                <a:solidFill>
                  <a:srgbClr val="F5F2EA"/>
                </a:solidFill>
                <a:latin typeface="Inter" pitchFamily="34" charset="0"/>
                <a:ea typeface="Inter" pitchFamily="34" charset="-122"/>
                <a:cs typeface="Inter" pitchFamily="34" charset="-120"/>
              </a:rPr>
              <a:t>Plan actif</a:t>
            </a:r>
            <a:endParaRPr lang="en-US" sz="1250" dirty="0"/>
          </a:p>
        </p:txBody>
      </p:sp>
      <p:sp>
        <p:nvSpPr>
          <p:cNvPr id="33" name="Text 31"/>
          <p:cNvSpPr/>
          <p:nvPr/>
        </p:nvSpPr>
        <p:spPr>
          <a:xfrm>
            <a:off x="7320686" y="2926080"/>
            <a:ext cx="1320394" cy="274320"/>
          </a:xfrm>
          <a:prstGeom prst="rect">
            <a:avLst/>
          </a:prstGeom>
          <a:noFill/>
          <a:ln/>
        </p:spPr>
        <p:txBody>
          <a:bodyPr wrap="square" lIns="0" tIns="0" rIns="0" bIns="0" rtlCol="0" anchor="ctr"/>
          <a:lstStyle/>
          <a:p>
            <a:pPr algn="ctr" indent="0" marL="0">
              <a:buNone/>
            </a:pPr>
            <a:r>
              <a:rPr lang="en-US" sz="900" dirty="0">
                <a:solidFill>
                  <a:srgbClr val="BDB8AE"/>
                </a:solidFill>
                <a:latin typeface="Inter" pitchFamily="34" charset="0"/>
                <a:ea typeface="Inter" pitchFamily="34" charset="-122"/>
                <a:cs typeface="Inter" pitchFamily="34" charset="-120"/>
              </a:rPr>
              <a:t>Salle mise à jour</a:t>
            </a:r>
            <a:endParaRPr lang="en-US" sz="900" dirty="0"/>
          </a:p>
        </p:txBody>
      </p:sp>
      <p:sp>
        <p:nvSpPr>
          <p:cNvPr id="34" name="Text 32"/>
          <p:cNvSpPr/>
          <p:nvPr/>
        </p:nvSpPr>
        <p:spPr>
          <a:xfrm>
            <a:off x="457200" y="3392424"/>
            <a:ext cx="8229600" cy="365760"/>
          </a:xfrm>
          <a:prstGeom prst="rect">
            <a:avLst/>
          </a:prstGeom>
          <a:noFill/>
          <a:ln/>
        </p:spPr>
        <p:txBody>
          <a:bodyPr wrap="square" lIns="0" tIns="0" rIns="0" bIns="0" rtlCol="0" anchor="ctr"/>
          <a:lstStyle/>
          <a:p>
            <a:pPr algn="ctr" indent="0" marL="0">
              <a:buNone/>
            </a:pPr>
            <a:r>
              <a:rPr lang="en-US" sz="1050" b="1" i="1" dirty="0">
                <a:solidFill>
                  <a:srgbClr val="C9A227"/>
                </a:solidFill>
                <a:latin typeface="Inter" pitchFamily="34" charset="0"/>
                <a:ea typeface="Inter" pitchFamily="34" charset="-122"/>
                <a:cs typeface="Inter" pitchFamily="34" charset="-120"/>
              </a:rPr>
              <a:t>Vérification serveur : </a:t>
            </a:r>
            <a:pPr algn="ctr" indent="0" marL="0">
              <a:buNone/>
            </a:pPr>
            <a:r>
              <a:rPr lang="en-US" sz="1050" i="1" dirty="0">
                <a:solidFill>
                  <a:srgbClr val="BDB8AE"/>
                </a:solidFill>
                <a:latin typeface="Inter" pitchFamily="34" charset="0"/>
                <a:ea typeface="Inter" pitchFamily="34" charset="-122"/>
                <a:cs typeface="Inter" pitchFamily="34" charset="-120"/>
              </a:rPr>
              <a:t>verify_and_activate_plan() · table stripe_payments à usage unique (anti-rejeu).</a:t>
            </a:r>
            <a:endParaRPr lang="en-US" sz="1050" dirty="0"/>
          </a:p>
        </p:txBody>
      </p:sp>
      <p:sp>
        <p:nvSpPr>
          <p:cNvPr id="35" name="Shape 33"/>
          <p:cNvSpPr/>
          <p:nvPr/>
        </p:nvSpPr>
        <p:spPr>
          <a:xfrm>
            <a:off x="457200" y="3822192"/>
            <a:ext cx="8229600" cy="749808"/>
          </a:xfrm>
          <a:prstGeom prst="roundRect">
            <a:avLst>
              <a:gd name="adj" fmla="val 7317"/>
            </a:avLst>
          </a:prstGeom>
          <a:solidFill>
            <a:srgbClr val="2E1A1D"/>
          </a:solidFill>
          <a:ln w="15875">
            <a:solidFill>
              <a:srgbClr val="C1121F"/>
            </a:solidFill>
            <a:prstDash val="solid"/>
          </a:ln>
          <a:effectLst>
            <a:outerShdw sx="100000" sy="100000" kx="0" ky="0" algn="bl" rotWithShape="0" blurRad="114300" dist="38100" dir="5400000">
              <a:srgbClr val="000000">
                <a:alpha val="50000"/>
              </a:srgbClr>
            </a:outerShdw>
          </a:effectLst>
        </p:spPr>
      </p:sp>
      <p:sp>
        <p:nvSpPr>
          <p:cNvPr id="36" name="Shape 34"/>
          <p:cNvSpPr/>
          <p:nvPr/>
        </p:nvSpPr>
        <p:spPr>
          <a:xfrm>
            <a:off x="658368" y="3959352"/>
            <a:ext cx="475488" cy="475488"/>
          </a:xfrm>
          <a:prstGeom prst="ellipse">
            <a:avLst/>
          </a:prstGeom>
          <a:solidFill>
            <a:srgbClr val="33333D"/>
          </a:solidFill>
          <a:ln w="22225">
            <a:solidFill>
              <a:srgbClr val="C1121F"/>
            </a:solidFill>
            <a:prstDash val="solid"/>
          </a:ln>
        </p:spPr>
      </p:sp>
      <p:pic>
        <p:nvPicPr>
          <p:cNvPr id="37" name="Image 0" descr="preencoded.png">    </p:cNvPr>
          <p:cNvPicPr>
            <a:picLocks noChangeAspect="1"/>
          </p:cNvPicPr>
          <p:nvPr/>
        </p:nvPicPr>
        <p:blipFill>
          <a:blip r:embed="rId1"/>
          <a:stretch>
            <a:fillRect/>
          </a:stretch>
        </p:blipFill>
        <p:spPr>
          <a:xfrm>
            <a:off x="786750" y="4087734"/>
            <a:ext cx="218724" cy="218724"/>
          </a:xfrm>
          <a:prstGeom prst="rect">
            <a:avLst/>
          </a:prstGeom>
        </p:spPr>
      </p:pic>
      <p:sp>
        <p:nvSpPr>
          <p:cNvPr id="38" name="Text 35"/>
          <p:cNvSpPr/>
          <p:nvPr/>
        </p:nvSpPr>
        <p:spPr>
          <a:xfrm>
            <a:off x="1371600" y="3913632"/>
            <a:ext cx="7178040" cy="566928"/>
          </a:xfrm>
          <a:prstGeom prst="rect">
            <a:avLst/>
          </a:prstGeom>
          <a:noFill/>
          <a:ln/>
        </p:spPr>
        <p:txBody>
          <a:bodyPr wrap="square" lIns="0" tIns="0" rIns="0" bIns="0" rtlCol="0" anchor="ctr"/>
          <a:lstStyle/>
          <a:p>
            <a:pPr indent="0" marL="0">
              <a:buNone/>
            </a:pPr>
            <a:r>
              <a:rPr lang="en-US" sz="1150" b="1" dirty="0">
                <a:solidFill>
                  <a:srgbClr val="E23B43"/>
                </a:solidFill>
                <a:latin typeface="Inter" pitchFamily="34" charset="0"/>
                <a:ea typeface="Inter" pitchFamily="34" charset="-122"/>
                <a:cs typeface="Inter" pitchFamily="34" charset="-120"/>
              </a:rPr>
              <a:t>Preuve de rigueur  ·  </a:t>
            </a:r>
            <a:pPr indent="0" marL="0">
              <a:buNone/>
            </a:pPr>
            <a:r>
              <a:rPr lang="en-US" sz="1150" dirty="0">
                <a:solidFill>
                  <a:srgbClr val="F5F2EA"/>
                </a:solidFill>
                <a:latin typeface="Inter" pitchFamily="34" charset="0"/>
                <a:ea typeface="Inter" pitchFamily="34" charset="-122"/>
                <a:cs typeface="Inter" pitchFamily="34" charset="-120"/>
              </a:rPr>
              <a:t>une ancienne page « maison » qui collectait des cartes en clair a été identifiée lors d'un audit de sécurité, puis neutralisée.</a:t>
            </a:r>
            <a:endParaRPr lang="en-US" sz="1150" dirty="0"/>
          </a:p>
        </p:txBody>
      </p:sp>
      <p:sp>
        <p:nvSpPr>
          <p:cNvPr id="39" name="Text 36"/>
          <p:cNvSpPr/>
          <p:nvPr/>
        </p:nvSpPr>
        <p:spPr>
          <a:xfrm>
            <a:off x="548640" y="4818888"/>
            <a:ext cx="2743200" cy="256032"/>
          </a:xfrm>
          <a:prstGeom prst="rect">
            <a:avLst/>
          </a:prstGeom>
          <a:noFill/>
          <a:ln/>
        </p:spPr>
        <p:txBody>
          <a:bodyPr wrap="square" lIns="0" tIns="0" rIns="0" bIns="0" rtlCol="0" anchor="ctr"/>
          <a:lstStyle/>
          <a:p>
            <a:pPr indent="0" marL="0">
              <a:buNone/>
            </a:pPr>
            <a:r>
              <a:rPr lang="en-US" sz="950" b="1" spc="300" kern="0" dirty="0">
                <a:solidFill>
                  <a:srgbClr val="C9A227"/>
                </a:solidFill>
                <a:latin typeface="Inter" pitchFamily="34" charset="0"/>
                <a:ea typeface="Inter" pitchFamily="34" charset="-122"/>
                <a:cs typeface="Inter" pitchFamily="34" charset="-120"/>
              </a:rPr>
              <a:t>THYMOS</a:t>
            </a:r>
            <a:endParaRPr lang="en-US" sz="950" dirty="0"/>
          </a:p>
        </p:txBody>
      </p:sp>
      <p:sp>
        <p:nvSpPr>
          <p:cNvPr id="40" name="Text 37"/>
          <p:cNvSpPr/>
          <p:nvPr/>
        </p:nvSpPr>
        <p:spPr>
          <a:xfrm>
            <a:off x="5852160" y="4818888"/>
            <a:ext cx="2743200" cy="256032"/>
          </a:xfrm>
          <a:prstGeom prst="rect">
            <a:avLst/>
          </a:prstGeom>
          <a:noFill/>
          <a:ln/>
        </p:spPr>
        <p:txBody>
          <a:bodyPr wrap="square" lIns="0" tIns="0" rIns="0" bIns="0" rtlCol="0" anchor="ctr"/>
          <a:lstStyle/>
          <a:p>
            <a:pPr algn="r" indent="0" marL="0">
              <a:buNone/>
            </a:pPr>
            <a:r>
              <a:rPr lang="en-US" sz="950" dirty="0">
                <a:solidFill>
                  <a:srgbClr val="BDB8AE"/>
                </a:solidFill>
                <a:latin typeface="Inter" pitchFamily="34" charset="0"/>
                <a:ea typeface="Inter" pitchFamily="34" charset="-122"/>
                <a:cs typeface="Inter" pitchFamily="34" charset="-120"/>
              </a:rPr>
              <a:t>09 / 11</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6262E"/>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150" b="1" spc="300" kern="0" dirty="0">
                <a:solidFill>
                  <a:srgbClr val="C9A227"/>
                </a:solidFill>
                <a:latin typeface="Inter" pitchFamily="34" charset="0"/>
                <a:ea typeface="Inter" pitchFamily="34" charset="-122"/>
                <a:cs typeface="Inter" pitchFamily="34" charset="-120"/>
              </a:rPr>
              <a:t>FOCUS TECHNIQUE  ·  STRIPE  ·  3 / 3</a:t>
            </a:r>
            <a:endParaRPr lang="en-US" sz="1150" dirty="0"/>
          </a:p>
        </p:txBody>
      </p:sp>
      <p:sp>
        <p:nvSpPr>
          <p:cNvPr id="3" name="Text 1"/>
          <p:cNvSpPr/>
          <p:nvPr/>
        </p:nvSpPr>
        <p:spPr>
          <a:xfrm>
            <a:off x="548640" y="658368"/>
            <a:ext cx="8046720" cy="713232"/>
          </a:xfrm>
          <a:prstGeom prst="rect">
            <a:avLst/>
          </a:prstGeom>
          <a:noFill/>
          <a:ln/>
        </p:spPr>
        <p:txBody>
          <a:bodyPr wrap="square" lIns="0" tIns="0" rIns="0" bIns="0" rtlCol="0" anchor="ctr"/>
          <a:lstStyle/>
          <a:p>
            <a:pPr indent="0" marL="0">
              <a:buNone/>
            </a:pPr>
            <a:r>
              <a:rPr lang="en-US" sz="3000" b="1" spc="100" kern="0" dirty="0">
                <a:solidFill>
                  <a:srgbClr val="F5F2EA"/>
                </a:solidFill>
                <a:latin typeface="Cinzel" pitchFamily="34" charset="0"/>
                <a:ea typeface="Cinzel" pitchFamily="34" charset="-122"/>
                <a:cs typeface="Cinzel" pitchFamily="34" charset="-120"/>
              </a:rPr>
              <a:t>OÙ ON EN EST</a:t>
            </a:r>
            <a:endParaRPr lang="en-US" sz="3000" dirty="0"/>
          </a:p>
        </p:txBody>
      </p:sp>
      <p:sp>
        <p:nvSpPr>
          <p:cNvPr id="4" name="Shape 2"/>
          <p:cNvSpPr/>
          <p:nvPr/>
        </p:nvSpPr>
        <p:spPr>
          <a:xfrm>
            <a:off x="548640" y="1463040"/>
            <a:ext cx="3931920" cy="2057400"/>
          </a:xfrm>
          <a:prstGeom prst="roundRect">
            <a:avLst>
              <a:gd name="adj" fmla="val 2667"/>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5" name="Shape 3"/>
          <p:cNvSpPr/>
          <p:nvPr/>
        </p:nvSpPr>
        <p:spPr>
          <a:xfrm>
            <a:off x="777240" y="1691640"/>
            <a:ext cx="502920" cy="502920"/>
          </a:xfrm>
          <a:prstGeom prst="ellipse">
            <a:avLst/>
          </a:prstGeom>
          <a:solidFill>
            <a:srgbClr val="33333D"/>
          </a:solidFill>
          <a:ln w="22225">
            <a:solidFill>
              <a:srgbClr val="C9A227"/>
            </a:solidFill>
            <a:prstDash val="solid"/>
          </a:ln>
        </p:spPr>
      </p:sp>
      <p:pic>
        <p:nvPicPr>
          <p:cNvPr id="6" name="Image 0" descr="preencoded.png">    </p:cNvPr>
          <p:cNvPicPr>
            <a:picLocks noChangeAspect="1"/>
          </p:cNvPicPr>
          <p:nvPr/>
        </p:nvPicPr>
        <p:blipFill>
          <a:blip r:embed="rId1"/>
          <a:stretch>
            <a:fillRect/>
          </a:stretch>
        </p:blipFill>
        <p:spPr>
          <a:xfrm>
            <a:off x="913028" y="1827428"/>
            <a:ext cx="231343" cy="231343"/>
          </a:xfrm>
          <a:prstGeom prst="rect">
            <a:avLst/>
          </a:prstGeom>
        </p:spPr>
      </p:pic>
      <p:sp>
        <p:nvSpPr>
          <p:cNvPr id="7" name="Text 4"/>
          <p:cNvSpPr/>
          <p:nvPr/>
        </p:nvSpPr>
        <p:spPr>
          <a:xfrm>
            <a:off x="1417320" y="1755648"/>
            <a:ext cx="2926080" cy="365760"/>
          </a:xfrm>
          <a:prstGeom prst="rect">
            <a:avLst/>
          </a:prstGeom>
          <a:noFill/>
          <a:ln/>
        </p:spPr>
        <p:txBody>
          <a:bodyPr wrap="square" lIns="0" tIns="0" rIns="0" bIns="0" rtlCol="0" anchor="ctr"/>
          <a:lstStyle/>
          <a:p>
            <a:pPr indent="0" marL="0">
              <a:buNone/>
            </a:pPr>
            <a:r>
              <a:rPr lang="en-US" sz="1300" b="1" spc="100" kern="0" dirty="0">
                <a:solidFill>
                  <a:srgbClr val="C9A227"/>
                </a:solidFill>
                <a:latin typeface="Inter" pitchFamily="34" charset="0"/>
                <a:ea typeface="Inter" pitchFamily="34" charset="-122"/>
                <a:cs typeface="Inter" pitchFamily="34" charset="-120"/>
              </a:rPr>
              <a:t>AUJOURD'HUI  ·  MODE TEST</a:t>
            </a:r>
            <a:endParaRPr lang="en-US" sz="1300" dirty="0"/>
          </a:p>
        </p:txBody>
      </p:sp>
      <p:sp>
        <p:nvSpPr>
          <p:cNvPr id="8" name="Text 5"/>
          <p:cNvSpPr/>
          <p:nvPr/>
        </p:nvSpPr>
        <p:spPr>
          <a:xfrm>
            <a:off x="868680" y="2331720"/>
            <a:ext cx="3383280" cy="109728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F5F2EA"/>
                </a:solidFill>
                <a:latin typeface="Inter" pitchFamily="34" charset="0"/>
                <a:ea typeface="Inter" pitchFamily="34" charset="-122"/>
                <a:cs typeface="Inter" pitchFamily="34" charset="-120"/>
              </a:rPr>
              <a:t>Payment Links et vérification serveur opérationnels.</a:t>
            </a:r>
            <a:endParaRPr lang="en-US" sz="1150" dirty="0"/>
          </a:p>
          <a:p>
            <a:pPr marL="342900" indent="-342900">
              <a:spcAft>
                <a:spcPts val="700"/>
              </a:spcAft>
              <a:buSzPct val="100000"/>
              <a:buChar char="•"/>
            </a:pPr>
            <a:r>
              <a:rPr lang="en-US" sz="1150" dirty="0">
                <a:solidFill>
                  <a:srgbClr val="F5F2EA"/>
                </a:solidFill>
                <a:latin typeface="Inter" pitchFamily="34" charset="0"/>
                <a:ea typeface="Inter" pitchFamily="34" charset="-122"/>
                <a:cs typeface="Inter" pitchFamily="34" charset="-120"/>
              </a:rPr>
              <a:t>Activation contrôlée côté Supabase.</a:t>
            </a:r>
            <a:endParaRPr lang="en-US" sz="1150" dirty="0"/>
          </a:p>
          <a:p>
            <a:pPr marL="342900" indent="-342900">
              <a:buSzPct val="100000"/>
              <a:buChar char="•"/>
            </a:pPr>
            <a:r>
              <a:rPr lang="en-US" sz="1150" dirty="0">
                <a:solidFill>
                  <a:srgbClr val="F5F2EA"/>
                </a:solidFill>
                <a:latin typeface="Inter" pitchFamily="34" charset="0"/>
                <a:ea typeface="Inter" pitchFamily="34" charset="-122"/>
                <a:cs typeface="Inter" pitchFamily="34" charset="-120"/>
              </a:rPr>
              <a:t>Garde-fou : activate_plan verrouillé sur le plan gratuit. Impossible de s'attribuer Pro ou Elite sans paiement vérifié.</a:t>
            </a:r>
            <a:endParaRPr lang="en-US" sz="1150" dirty="0"/>
          </a:p>
        </p:txBody>
      </p:sp>
      <p:sp>
        <p:nvSpPr>
          <p:cNvPr id="9" name="Shape 6"/>
          <p:cNvSpPr/>
          <p:nvPr/>
        </p:nvSpPr>
        <p:spPr>
          <a:xfrm>
            <a:off x="4663440" y="1463040"/>
            <a:ext cx="3931920" cy="2057400"/>
          </a:xfrm>
          <a:prstGeom prst="roundRect">
            <a:avLst>
              <a:gd name="adj" fmla="val 2667"/>
            </a:avLst>
          </a:prstGeom>
          <a:solidFill>
            <a:srgbClr val="33333D"/>
          </a:solidFill>
          <a:ln w="15875">
            <a:solidFill>
              <a:srgbClr val="C9A227"/>
            </a:solidFill>
            <a:prstDash val="solid"/>
          </a:ln>
          <a:effectLst>
            <a:outerShdw sx="100000" sy="100000" kx="0" ky="0" algn="bl" rotWithShape="0" blurRad="114300" dist="38100" dir="5400000">
              <a:srgbClr val="000000">
                <a:alpha val="50000"/>
              </a:srgbClr>
            </a:outerShdw>
          </a:effectLst>
        </p:spPr>
      </p:sp>
      <p:sp>
        <p:nvSpPr>
          <p:cNvPr id="10" name="Shape 7"/>
          <p:cNvSpPr/>
          <p:nvPr/>
        </p:nvSpPr>
        <p:spPr>
          <a:xfrm>
            <a:off x="4892040" y="1691640"/>
            <a:ext cx="502920" cy="502920"/>
          </a:xfrm>
          <a:prstGeom prst="ellipse">
            <a:avLst/>
          </a:prstGeom>
          <a:solidFill>
            <a:srgbClr val="33333D"/>
          </a:solidFill>
          <a:ln w="22225">
            <a:solidFill>
              <a:srgbClr val="C9A227"/>
            </a:solidFill>
            <a:prstDash val="solid"/>
          </a:ln>
        </p:spPr>
      </p:sp>
      <p:pic>
        <p:nvPicPr>
          <p:cNvPr id="11" name="Image 1" descr="preencoded.png">    </p:cNvPr>
          <p:cNvPicPr>
            <a:picLocks noChangeAspect="1"/>
          </p:cNvPicPr>
          <p:nvPr/>
        </p:nvPicPr>
        <p:blipFill>
          <a:blip r:embed="rId2"/>
          <a:stretch>
            <a:fillRect/>
          </a:stretch>
        </p:blipFill>
        <p:spPr>
          <a:xfrm>
            <a:off x="5027828" y="1827428"/>
            <a:ext cx="231343" cy="231343"/>
          </a:xfrm>
          <a:prstGeom prst="rect">
            <a:avLst/>
          </a:prstGeom>
        </p:spPr>
      </p:pic>
      <p:sp>
        <p:nvSpPr>
          <p:cNvPr id="12" name="Text 8"/>
          <p:cNvSpPr/>
          <p:nvPr/>
        </p:nvSpPr>
        <p:spPr>
          <a:xfrm>
            <a:off x="5532120" y="1755648"/>
            <a:ext cx="2926080" cy="365760"/>
          </a:xfrm>
          <a:prstGeom prst="rect">
            <a:avLst/>
          </a:prstGeom>
          <a:noFill/>
          <a:ln/>
        </p:spPr>
        <p:txBody>
          <a:bodyPr wrap="square" lIns="0" tIns="0" rIns="0" bIns="0" rtlCol="0" anchor="ctr"/>
          <a:lstStyle/>
          <a:p>
            <a:pPr indent="0" marL="0">
              <a:buNone/>
            </a:pPr>
            <a:r>
              <a:rPr lang="en-US" sz="1300" b="1" spc="100" kern="0" dirty="0">
                <a:solidFill>
                  <a:srgbClr val="C9A227"/>
                </a:solidFill>
                <a:latin typeface="Inter" pitchFamily="34" charset="0"/>
                <a:ea typeface="Inter" pitchFamily="34" charset="-122"/>
                <a:cs typeface="Inter" pitchFamily="34" charset="-120"/>
              </a:rPr>
              <a:t>PROCHAINE ÉTAPE  ·  LIVE</a:t>
            </a:r>
            <a:endParaRPr lang="en-US" sz="1300" dirty="0"/>
          </a:p>
        </p:txBody>
      </p:sp>
      <p:sp>
        <p:nvSpPr>
          <p:cNvPr id="13" name="Text 9"/>
          <p:cNvSpPr/>
          <p:nvPr/>
        </p:nvSpPr>
        <p:spPr>
          <a:xfrm>
            <a:off x="4983480" y="2331720"/>
            <a:ext cx="3383280" cy="109728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F5F2EA"/>
                </a:solidFill>
                <a:latin typeface="Inter" pitchFamily="34" charset="0"/>
                <a:ea typeface="Inter" pitchFamily="34" charset="-122"/>
                <a:cs typeface="Inter" pitchFamily="34" charset="-120"/>
              </a:rPr>
              <a:t>Webhook checkout.session.completed via Edge Function.</a:t>
            </a:r>
            <a:endParaRPr lang="en-US" sz="1150" dirty="0"/>
          </a:p>
          <a:p>
            <a:pPr marL="342900" indent="-342900">
              <a:spcAft>
                <a:spcPts val="700"/>
              </a:spcAft>
              <a:buSzPct val="100000"/>
              <a:buChar char="•"/>
            </a:pPr>
            <a:r>
              <a:rPr lang="en-US" sz="1150" dirty="0">
                <a:solidFill>
                  <a:srgbClr val="F5F2EA"/>
                </a:solidFill>
                <a:latin typeface="Inter" pitchFamily="34" charset="0"/>
                <a:ea typeface="Inter" pitchFamily="34" charset="-122"/>
                <a:cs typeface="Inter" pitchFamily="34" charset="-120"/>
              </a:rPr>
              <a:t>Activation 100 % automatique, sans retour manuel.</a:t>
            </a:r>
            <a:endParaRPr lang="en-US" sz="1150" dirty="0"/>
          </a:p>
          <a:p>
            <a:pPr marL="342900" indent="-342900">
              <a:buSzPct val="100000"/>
              <a:buChar char="•"/>
            </a:pPr>
            <a:r>
              <a:rPr lang="en-US" sz="1150" dirty="0">
                <a:solidFill>
                  <a:srgbClr val="F5F2EA"/>
                </a:solidFill>
                <a:latin typeface="Inter" pitchFamily="34" charset="0"/>
                <a:ea typeface="Inter" pitchFamily="34" charset="-122"/>
                <a:cs typeface="Inter" pitchFamily="34" charset="-120"/>
              </a:rPr>
              <a:t>Passage du mode test au mode live.</a:t>
            </a:r>
            <a:endParaRPr lang="en-US" sz="1150" dirty="0"/>
          </a:p>
        </p:txBody>
      </p:sp>
      <p:sp>
        <p:nvSpPr>
          <p:cNvPr id="14" name="Text 10"/>
          <p:cNvSpPr/>
          <p:nvPr/>
        </p:nvSpPr>
        <p:spPr>
          <a:xfrm>
            <a:off x="548640" y="3730752"/>
            <a:ext cx="8046720" cy="274320"/>
          </a:xfrm>
          <a:prstGeom prst="rect">
            <a:avLst/>
          </a:prstGeom>
          <a:noFill/>
          <a:ln/>
        </p:spPr>
        <p:txBody>
          <a:bodyPr wrap="square" lIns="0" tIns="0" rIns="0" bIns="0" rtlCol="0" anchor="ctr"/>
          <a:lstStyle/>
          <a:p>
            <a:pPr algn="ctr" indent="0" marL="0">
              <a:buNone/>
            </a:pPr>
            <a:r>
              <a:rPr lang="en-US" sz="1100" b="1" spc="200" kern="0" dirty="0">
                <a:solidFill>
                  <a:srgbClr val="C9A227"/>
                </a:solidFill>
                <a:latin typeface="Inter" pitchFamily="34" charset="0"/>
                <a:ea typeface="Inter" pitchFamily="34" charset="-122"/>
                <a:cs typeface="Inter" pitchFamily="34" charset="-120"/>
              </a:rPr>
              <a:t>CE QUE ÇA DÉMONTRE</a:t>
            </a:r>
            <a:endParaRPr lang="en-US" sz="1100" dirty="0"/>
          </a:p>
        </p:txBody>
      </p:sp>
      <p:sp>
        <p:nvSpPr>
          <p:cNvPr id="15" name="Shape 11"/>
          <p:cNvSpPr/>
          <p:nvPr/>
        </p:nvSpPr>
        <p:spPr>
          <a:xfrm>
            <a:off x="548640" y="4041648"/>
            <a:ext cx="1477670" cy="502920"/>
          </a:xfrm>
          <a:prstGeom prst="roundRect">
            <a:avLst>
              <a:gd name="adj" fmla="val 9091"/>
            </a:avLst>
          </a:prstGeom>
          <a:solidFill>
            <a:srgbClr val="33333D"/>
          </a:solidFill>
          <a:ln w="9525">
            <a:solidFill>
              <a:srgbClr val="44444F"/>
            </a:solidFill>
            <a:prstDash val="solid"/>
          </a:ln>
        </p:spPr>
      </p:sp>
      <p:sp>
        <p:nvSpPr>
          <p:cNvPr id="16" name="Text 12"/>
          <p:cNvSpPr/>
          <p:nvPr/>
        </p:nvSpPr>
        <p:spPr>
          <a:xfrm>
            <a:off x="594360" y="4041648"/>
            <a:ext cx="1386230" cy="502920"/>
          </a:xfrm>
          <a:prstGeom prst="rect">
            <a:avLst/>
          </a:prstGeom>
          <a:noFill/>
          <a:ln/>
        </p:spPr>
        <p:txBody>
          <a:bodyPr wrap="square" lIns="0" tIns="0" rIns="0" bIns="0" rtlCol="0" anchor="ctr"/>
          <a:lstStyle/>
          <a:p>
            <a:pPr algn="ctr" indent="0" marL="0">
              <a:buNone/>
            </a:pPr>
            <a:r>
              <a:rPr lang="en-US" sz="1000" dirty="0">
                <a:solidFill>
                  <a:srgbClr val="F5F2EA"/>
                </a:solidFill>
                <a:latin typeface="Inter" pitchFamily="34" charset="0"/>
                <a:ea typeface="Inter" pitchFamily="34" charset="-122"/>
                <a:cs typeface="Inter" pitchFamily="34" charset="-120"/>
              </a:rPr>
              <a:t>Intégration paiement tiers</a:t>
            </a:r>
            <a:endParaRPr lang="en-US" sz="1000" dirty="0"/>
          </a:p>
        </p:txBody>
      </p:sp>
      <p:sp>
        <p:nvSpPr>
          <p:cNvPr id="17" name="Shape 13"/>
          <p:cNvSpPr/>
          <p:nvPr/>
        </p:nvSpPr>
        <p:spPr>
          <a:xfrm>
            <a:off x="2190902" y="4041648"/>
            <a:ext cx="1477670" cy="502920"/>
          </a:xfrm>
          <a:prstGeom prst="roundRect">
            <a:avLst>
              <a:gd name="adj" fmla="val 9091"/>
            </a:avLst>
          </a:prstGeom>
          <a:solidFill>
            <a:srgbClr val="33333D"/>
          </a:solidFill>
          <a:ln w="9525">
            <a:solidFill>
              <a:srgbClr val="44444F"/>
            </a:solidFill>
            <a:prstDash val="solid"/>
          </a:ln>
        </p:spPr>
      </p:sp>
      <p:sp>
        <p:nvSpPr>
          <p:cNvPr id="18" name="Text 14"/>
          <p:cNvSpPr/>
          <p:nvPr/>
        </p:nvSpPr>
        <p:spPr>
          <a:xfrm>
            <a:off x="2236622" y="4041648"/>
            <a:ext cx="1386230" cy="502920"/>
          </a:xfrm>
          <a:prstGeom prst="rect">
            <a:avLst/>
          </a:prstGeom>
          <a:noFill/>
          <a:ln/>
        </p:spPr>
        <p:txBody>
          <a:bodyPr wrap="square" lIns="0" tIns="0" rIns="0" bIns="0" rtlCol="0" anchor="ctr"/>
          <a:lstStyle/>
          <a:p>
            <a:pPr algn="ctr" indent="0" marL="0">
              <a:buNone/>
            </a:pPr>
            <a:r>
              <a:rPr lang="en-US" sz="1000" dirty="0">
                <a:solidFill>
                  <a:srgbClr val="F5F2EA"/>
                </a:solidFill>
                <a:latin typeface="Inter" pitchFamily="34" charset="0"/>
                <a:ea typeface="Inter" pitchFamily="34" charset="-122"/>
                <a:cs typeface="Inter" pitchFamily="34" charset="-120"/>
              </a:rPr>
              <a:t>Sécurité / PCI-DSS</a:t>
            </a:r>
            <a:endParaRPr lang="en-US" sz="1000" dirty="0"/>
          </a:p>
        </p:txBody>
      </p:sp>
      <p:sp>
        <p:nvSpPr>
          <p:cNvPr id="19" name="Shape 15"/>
          <p:cNvSpPr/>
          <p:nvPr/>
        </p:nvSpPr>
        <p:spPr>
          <a:xfrm>
            <a:off x="3833165" y="4041648"/>
            <a:ext cx="1477670" cy="502920"/>
          </a:xfrm>
          <a:prstGeom prst="roundRect">
            <a:avLst>
              <a:gd name="adj" fmla="val 9091"/>
            </a:avLst>
          </a:prstGeom>
          <a:solidFill>
            <a:srgbClr val="33333D"/>
          </a:solidFill>
          <a:ln w="9525">
            <a:solidFill>
              <a:srgbClr val="44444F"/>
            </a:solidFill>
            <a:prstDash val="solid"/>
          </a:ln>
        </p:spPr>
      </p:sp>
      <p:sp>
        <p:nvSpPr>
          <p:cNvPr id="20" name="Text 16"/>
          <p:cNvSpPr/>
          <p:nvPr/>
        </p:nvSpPr>
        <p:spPr>
          <a:xfrm>
            <a:off x="3878885" y="4041648"/>
            <a:ext cx="1386230" cy="502920"/>
          </a:xfrm>
          <a:prstGeom prst="rect">
            <a:avLst/>
          </a:prstGeom>
          <a:noFill/>
          <a:ln/>
        </p:spPr>
        <p:txBody>
          <a:bodyPr wrap="square" lIns="0" tIns="0" rIns="0" bIns="0" rtlCol="0" anchor="ctr"/>
          <a:lstStyle/>
          <a:p>
            <a:pPr algn="ctr" indent="0" marL="0">
              <a:buNone/>
            </a:pPr>
            <a:r>
              <a:rPr lang="en-US" sz="1000" dirty="0">
                <a:solidFill>
                  <a:srgbClr val="F5F2EA"/>
                </a:solidFill>
                <a:latin typeface="Inter" pitchFamily="34" charset="0"/>
                <a:ea typeface="Inter" pitchFamily="34" charset="-122"/>
                <a:cs typeface="Inter" pitchFamily="34" charset="-120"/>
              </a:rPr>
              <a:t>Architecture serverless</a:t>
            </a:r>
            <a:endParaRPr lang="en-US" sz="1000" dirty="0"/>
          </a:p>
        </p:txBody>
      </p:sp>
      <p:sp>
        <p:nvSpPr>
          <p:cNvPr id="21" name="Shape 17"/>
          <p:cNvSpPr/>
          <p:nvPr/>
        </p:nvSpPr>
        <p:spPr>
          <a:xfrm>
            <a:off x="5475427" y="4041648"/>
            <a:ext cx="1477670" cy="502920"/>
          </a:xfrm>
          <a:prstGeom prst="roundRect">
            <a:avLst>
              <a:gd name="adj" fmla="val 9091"/>
            </a:avLst>
          </a:prstGeom>
          <a:solidFill>
            <a:srgbClr val="33333D"/>
          </a:solidFill>
          <a:ln w="9525">
            <a:solidFill>
              <a:srgbClr val="44444F"/>
            </a:solidFill>
            <a:prstDash val="solid"/>
          </a:ln>
        </p:spPr>
      </p:sp>
      <p:sp>
        <p:nvSpPr>
          <p:cNvPr id="22" name="Text 18"/>
          <p:cNvSpPr/>
          <p:nvPr/>
        </p:nvSpPr>
        <p:spPr>
          <a:xfrm>
            <a:off x="5521147" y="4041648"/>
            <a:ext cx="1386230" cy="502920"/>
          </a:xfrm>
          <a:prstGeom prst="rect">
            <a:avLst/>
          </a:prstGeom>
          <a:noFill/>
          <a:ln/>
        </p:spPr>
        <p:txBody>
          <a:bodyPr wrap="square" lIns="0" tIns="0" rIns="0" bIns="0" rtlCol="0" anchor="ctr"/>
          <a:lstStyle/>
          <a:p>
            <a:pPr algn="ctr" indent="0" marL="0">
              <a:buNone/>
            </a:pPr>
            <a:r>
              <a:rPr lang="en-US" sz="1000" dirty="0">
                <a:solidFill>
                  <a:srgbClr val="F5F2EA"/>
                </a:solidFill>
                <a:latin typeface="Inter" pitchFamily="34" charset="0"/>
                <a:ea typeface="Inter" pitchFamily="34" charset="-122"/>
                <a:cs typeface="Inter" pitchFamily="34" charset="-120"/>
              </a:rPr>
              <a:t>RPC PostgreSQL</a:t>
            </a:r>
            <a:endParaRPr lang="en-US" sz="1000" dirty="0"/>
          </a:p>
        </p:txBody>
      </p:sp>
      <p:sp>
        <p:nvSpPr>
          <p:cNvPr id="23" name="Shape 19"/>
          <p:cNvSpPr/>
          <p:nvPr/>
        </p:nvSpPr>
        <p:spPr>
          <a:xfrm>
            <a:off x="7117690" y="4041648"/>
            <a:ext cx="1477670" cy="502920"/>
          </a:xfrm>
          <a:prstGeom prst="roundRect">
            <a:avLst>
              <a:gd name="adj" fmla="val 9091"/>
            </a:avLst>
          </a:prstGeom>
          <a:solidFill>
            <a:srgbClr val="33333D"/>
          </a:solidFill>
          <a:ln w="9525">
            <a:solidFill>
              <a:srgbClr val="44444F"/>
            </a:solidFill>
            <a:prstDash val="solid"/>
          </a:ln>
        </p:spPr>
      </p:sp>
      <p:sp>
        <p:nvSpPr>
          <p:cNvPr id="24" name="Text 20"/>
          <p:cNvSpPr/>
          <p:nvPr/>
        </p:nvSpPr>
        <p:spPr>
          <a:xfrm>
            <a:off x="7163410" y="4041648"/>
            <a:ext cx="1386230" cy="502920"/>
          </a:xfrm>
          <a:prstGeom prst="rect">
            <a:avLst/>
          </a:prstGeom>
          <a:noFill/>
          <a:ln/>
        </p:spPr>
        <p:txBody>
          <a:bodyPr wrap="square" lIns="0" tIns="0" rIns="0" bIns="0" rtlCol="0" anchor="ctr"/>
          <a:lstStyle/>
          <a:p>
            <a:pPr algn="ctr" indent="0" marL="0">
              <a:buNone/>
            </a:pPr>
            <a:r>
              <a:rPr lang="en-US" sz="1000" dirty="0">
                <a:solidFill>
                  <a:srgbClr val="F5F2EA"/>
                </a:solidFill>
                <a:latin typeface="Inter" pitchFamily="34" charset="0"/>
                <a:ea typeface="Inter" pitchFamily="34" charset="-122"/>
                <a:cs typeface="Inter" pitchFamily="34" charset="-120"/>
              </a:rPr>
              <a:t>Gestion des abonnements</a:t>
            </a:r>
            <a:endParaRPr lang="en-US" sz="1000" dirty="0"/>
          </a:p>
        </p:txBody>
      </p:sp>
      <p:sp>
        <p:nvSpPr>
          <p:cNvPr id="25" name="Text 21"/>
          <p:cNvSpPr/>
          <p:nvPr/>
        </p:nvSpPr>
        <p:spPr>
          <a:xfrm>
            <a:off x="548640" y="4818888"/>
            <a:ext cx="2743200" cy="256032"/>
          </a:xfrm>
          <a:prstGeom prst="rect">
            <a:avLst/>
          </a:prstGeom>
          <a:noFill/>
          <a:ln/>
        </p:spPr>
        <p:txBody>
          <a:bodyPr wrap="square" lIns="0" tIns="0" rIns="0" bIns="0" rtlCol="0" anchor="ctr"/>
          <a:lstStyle/>
          <a:p>
            <a:pPr indent="0" marL="0">
              <a:buNone/>
            </a:pPr>
            <a:r>
              <a:rPr lang="en-US" sz="950" b="1" spc="300" kern="0" dirty="0">
                <a:solidFill>
                  <a:srgbClr val="C9A227"/>
                </a:solidFill>
                <a:latin typeface="Inter" pitchFamily="34" charset="0"/>
                <a:ea typeface="Inter" pitchFamily="34" charset="-122"/>
                <a:cs typeface="Inter" pitchFamily="34" charset="-120"/>
              </a:rPr>
              <a:t>THYMOS</a:t>
            </a:r>
            <a:endParaRPr lang="en-US" sz="950" dirty="0"/>
          </a:p>
        </p:txBody>
      </p:sp>
      <p:sp>
        <p:nvSpPr>
          <p:cNvPr id="26" name="Text 22"/>
          <p:cNvSpPr/>
          <p:nvPr/>
        </p:nvSpPr>
        <p:spPr>
          <a:xfrm>
            <a:off x="5852160" y="4818888"/>
            <a:ext cx="2743200" cy="256032"/>
          </a:xfrm>
          <a:prstGeom prst="rect">
            <a:avLst/>
          </a:prstGeom>
          <a:noFill/>
          <a:ln/>
        </p:spPr>
        <p:txBody>
          <a:bodyPr wrap="square" lIns="0" tIns="0" rIns="0" bIns="0" rtlCol="0" anchor="ctr"/>
          <a:lstStyle/>
          <a:p>
            <a:pPr algn="r" indent="0" marL="0">
              <a:buNone/>
            </a:pPr>
            <a:r>
              <a:rPr lang="en-US" sz="950" dirty="0">
                <a:solidFill>
                  <a:srgbClr val="BDB8AE"/>
                </a:solidFill>
                <a:latin typeface="Inter" pitchFamily="34" charset="0"/>
                <a:ea typeface="Inter" pitchFamily="34" charset="-122"/>
                <a:cs typeface="Inter" pitchFamily="34" charset="-120"/>
              </a:rPr>
              <a:t>10 / 11</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51B"/>
        </a:solidFill>
      </p:bgPr>
    </p:bg>
    <p:spTree>
      <p:nvGrpSpPr>
        <p:cNvPr id="1" name=""/>
        <p:cNvGrpSpPr/>
        <p:nvPr/>
      </p:nvGrpSpPr>
      <p:grpSpPr>
        <a:xfrm>
          <a:off x="0" y="0"/>
          <a:ext cx="0" cy="0"/>
          <a:chOff x="0" y="0"/>
          <a:chExt cx="0" cy="0"/>
        </a:xfrm>
      </p:grpSpPr>
      <p:sp>
        <p:nvSpPr>
          <p:cNvPr id="2" name="Shape 0"/>
          <p:cNvSpPr/>
          <p:nvPr/>
        </p:nvSpPr>
        <p:spPr>
          <a:xfrm>
            <a:off x="4206240" y="457200"/>
            <a:ext cx="731520" cy="731520"/>
          </a:xfrm>
          <a:prstGeom prst="ellipse">
            <a:avLst/>
          </a:prstGeom>
          <a:solidFill>
            <a:srgbClr val="33333D"/>
          </a:solidFill>
          <a:ln w="25400">
            <a:solidFill>
              <a:srgbClr val="C9A227"/>
            </a:solidFill>
            <a:prstDash val="solid"/>
          </a:ln>
        </p:spPr>
      </p:sp>
      <p:sp>
        <p:nvSpPr>
          <p:cNvPr id="3" name="Text 1"/>
          <p:cNvSpPr/>
          <p:nvPr/>
        </p:nvSpPr>
        <p:spPr>
          <a:xfrm>
            <a:off x="4206240" y="457200"/>
            <a:ext cx="731520" cy="731520"/>
          </a:xfrm>
          <a:prstGeom prst="rect">
            <a:avLst/>
          </a:prstGeom>
          <a:noFill/>
          <a:ln/>
        </p:spPr>
        <p:txBody>
          <a:bodyPr wrap="square" lIns="0" tIns="0" rIns="0" bIns="0" rtlCol="0" anchor="ctr"/>
          <a:lstStyle/>
          <a:p>
            <a:pPr algn="ctr" indent="0" marL="0">
              <a:buNone/>
            </a:pPr>
            <a:r>
              <a:rPr lang="en-US" sz="3600" b="1" dirty="0">
                <a:solidFill>
                  <a:srgbClr val="C9A227"/>
                </a:solidFill>
                <a:latin typeface="Cambria" pitchFamily="34" charset="0"/>
                <a:ea typeface="Cambria" pitchFamily="34" charset="-122"/>
                <a:cs typeface="Cambria" pitchFamily="34" charset="-120"/>
              </a:rPr>
              <a:t>Θ</a:t>
            </a:r>
            <a:endParaRPr lang="en-US" sz="3600" dirty="0"/>
          </a:p>
        </p:txBody>
      </p:sp>
      <p:sp>
        <p:nvSpPr>
          <p:cNvPr id="4" name="Text 2"/>
          <p:cNvSpPr/>
          <p:nvPr/>
        </p:nvSpPr>
        <p:spPr>
          <a:xfrm>
            <a:off x="0" y="1325880"/>
            <a:ext cx="9144000" cy="640080"/>
          </a:xfrm>
          <a:prstGeom prst="rect">
            <a:avLst/>
          </a:prstGeom>
          <a:noFill/>
          <a:ln/>
        </p:spPr>
        <p:txBody>
          <a:bodyPr wrap="square" lIns="0" tIns="0" rIns="0" bIns="0" rtlCol="0" anchor="ctr"/>
          <a:lstStyle/>
          <a:p>
            <a:pPr algn="ctr" indent="0" marL="0">
              <a:buNone/>
            </a:pPr>
            <a:r>
              <a:rPr lang="en-US" sz="3800" b="1" spc="200" kern="0" dirty="0">
                <a:solidFill>
                  <a:srgbClr val="F5F2EA"/>
                </a:solidFill>
                <a:latin typeface="Cinzel" pitchFamily="34" charset="0"/>
                <a:ea typeface="Cinzel" pitchFamily="34" charset="-122"/>
                <a:cs typeface="Cinzel" pitchFamily="34" charset="-120"/>
              </a:rPr>
              <a:t>LA VISION</a:t>
            </a:r>
            <a:endParaRPr lang="en-US" sz="3800" dirty="0"/>
          </a:p>
        </p:txBody>
      </p:sp>
      <p:sp>
        <p:nvSpPr>
          <p:cNvPr id="5" name="Text 3"/>
          <p:cNvSpPr/>
          <p:nvPr/>
        </p:nvSpPr>
        <p:spPr>
          <a:xfrm>
            <a:off x="914400" y="2103120"/>
            <a:ext cx="7315200" cy="457200"/>
          </a:xfrm>
          <a:prstGeom prst="rect">
            <a:avLst/>
          </a:prstGeom>
          <a:noFill/>
          <a:ln/>
        </p:spPr>
        <p:txBody>
          <a:bodyPr wrap="square" lIns="0" tIns="0" rIns="0" bIns="0" rtlCol="0" anchor="ctr"/>
          <a:lstStyle/>
          <a:p>
            <a:pPr algn="ctr" indent="0" marL="0">
              <a:buNone/>
            </a:pPr>
            <a:r>
              <a:rPr lang="en-US" sz="1500" dirty="0">
                <a:solidFill>
                  <a:srgbClr val="BDB8AE"/>
                </a:solidFill>
                <a:latin typeface="Inter" pitchFamily="34" charset="0"/>
                <a:ea typeface="Inter" pitchFamily="34" charset="-122"/>
                <a:cs typeface="Inter" pitchFamily="34" charset="-120"/>
              </a:rPr>
              <a:t>Devenir l'outil de référence des coachs de sports de combat, en commençant par Marseille.</a:t>
            </a:r>
            <a:endParaRPr lang="en-US" sz="1500" dirty="0"/>
          </a:p>
        </p:txBody>
      </p:sp>
      <p:sp>
        <p:nvSpPr>
          <p:cNvPr id="6" name="Shape 4"/>
          <p:cNvSpPr/>
          <p:nvPr/>
        </p:nvSpPr>
        <p:spPr>
          <a:xfrm>
            <a:off x="548640" y="2834640"/>
            <a:ext cx="2468880" cy="914400"/>
          </a:xfrm>
          <a:prstGeom prst="roundRect">
            <a:avLst>
              <a:gd name="adj" fmla="val 6000"/>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7" name="Text 5"/>
          <p:cNvSpPr/>
          <p:nvPr/>
        </p:nvSpPr>
        <p:spPr>
          <a:xfrm>
            <a:off x="548640" y="2999232"/>
            <a:ext cx="2468880" cy="292608"/>
          </a:xfrm>
          <a:prstGeom prst="rect">
            <a:avLst/>
          </a:prstGeom>
          <a:noFill/>
          <a:ln/>
        </p:spPr>
        <p:txBody>
          <a:bodyPr wrap="square" lIns="0" tIns="0" rIns="0" bIns="0" rtlCol="0" anchor="ctr"/>
          <a:lstStyle/>
          <a:p>
            <a:pPr algn="ctr" indent="0" marL="0">
              <a:buNone/>
            </a:pPr>
            <a:r>
              <a:rPr lang="en-US" sz="1250" b="1" dirty="0">
                <a:solidFill>
                  <a:srgbClr val="C9A227"/>
                </a:solidFill>
                <a:latin typeface="Inter" pitchFamily="34" charset="0"/>
                <a:ea typeface="Inter" pitchFamily="34" charset="-122"/>
                <a:cs typeface="Inter" pitchFamily="34" charset="-120"/>
              </a:rPr>
              <a:t>Court terme</a:t>
            </a:r>
            <a:endParaRPr lang="en-US" sz="1250" dirty="0"/>
          </a:p>
        </p:txBody>
      </p:sp>
      <p:sp>
        <p:nvSpPr>
          <p:cNvPr id="8" name="Text 6"/>
          <p:cNvSpPr/>
          <p:nvPr/>
        </p:nvSpPr>
        <p:spPr>
          <a:xfrm>
            <a:off x="685800" y="3291840"/>
            <a:ext cx="2194560" cy="365760"/>
          </a:xfrm>
          <a:prstGeom prst="rect">
            <a:avLst/>
          </a:prstGeom>
          <a:noFill/>
          <a:ln/>
        </p:spPr>
        <p:txBody>
          <a:bodyPr wrap="square" lIns="0" tIns="0" rIns="0" bIns="0" rtlCol="0" anchor="ctr"/>
          <a:lstStyle/>
          <a:p>
            <a:pPr algn="ctr" indent="0" marL="0">
              <a:buNone/>
            </a:pPr>
            <a:r>
              <a:rPr lang="en-US" sz="1100" dirty="0">
                <a:solidFill>
                  <a:srgbClr val="F5F2EA"/>
                </a:solidFill>
                <a:latin typeface="Inter" pitchFamily="34" charset="0"/>
                <a:ea typeface="Inter" pitchFamily="34" charset="-122"/>
                <a:cs typeface="Inter" pitchFamily="34" charset="-120"/>
              </a:rPr>
              <a:t>Webhook + passage en live</a:t>
            </a:r>
            <a:endParaRPr lang="en-US" sz="1100" dirty="0"/>
          </a:p>
        </p:txBody>
      </p:sp>
      <p:sp>
        <p:nvSpPr>
          <p:cNvPr id="9" name="Shape 7"/>
          <p:cNvSpPr/>
          <p:nvPr/>
        </p:nvSpPr>
        <p:spPr>
          <a:xfrm>
            <a:off x="3337560" y="2834640"/>
            <a:ext cx="2468880" cy="914400"/>
          </a:xfrm>
          <a:prstGeom prst="roundRect">
            <a:avLst>
              <a:gd name="adj" fmla="val 6000"/>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0" name="Text 8"/>
          <p:cNvSpPr/>
          <p:nvPr/>
        </p:nvSpPr>
        <p:spPr>
          <a:xfrm>
            <a:off x="3337560" y="2999232"/>
            <a:ext cx="2468880" cy="292608"/>
          </a:xfrm>
          <a:prstGeom prst="rect">
            <a:avLst/>
          </a:prstGeom>
          <a:noFill/>
          <a:ln/>
        </p:spPr>
        <p:txBody>
          <a:bodyPr wrap="square" lIns="0" tIns="0" rIns="0" bIns="0" rtlCol="0" anchor="ctr"/>
          <a:lstStyle/>
          <a:p>
            <a:pPr algn="ctr" indent="0" marL="0">
              <a:buNone/>
            </a:pPr>
            <a:r>
              <a:rPr lang="en-US" sz="1250" b="1" dirty="0">
                <a:solidFill>
                  <a:srgbClr val="C9A227"/>
                </a:solidFill>
                <a:latin typeface="Inter" pitchFamily="34" charset="0"/>
                <a:ea typeface="Inter" pitchFamily="34" charset="-122"/>
                <a:cs typeface="Inter" pitchFamily="34" charset="-120"/>
              </a:rPr>
              <a:t>Moyen terme</a:t>
            </a:r>
            <a:endParaRPr lang="en-US" sz="1250" dirty="0"/>
          </a:p>
        </p:txBody>
      </p:sp>
      <p:sp>
        <p:nvSpPr>
          <p:cNvPr id="11" name="Text 9"/>
          <p:cNvSpPr/>
          <p:nvPr/>
        </p:nvSpPr>
        <p:spPr>
          <a:xfrm>
            <a:off x="3474720" y="3291840"/>
            <a:ext cx="2194560" cy="365760"/>
          </a:xfrm>
          <a:prstGeom prst="rect">
            <a:avLst/>
          </a:prstGeom>
          <a:noFill/>
          <a:ln/>
        </p:spPr>
        <p:txBody>
          <a:bodyPr wrap="square" lIns="0" tIns="0" rIns="0" bIns="0" rtlCol="0" anchor="ctr"/>
          <a:lstStyle/>
          <a:p>
            <a:pPr algn="ctr" indent="0" marL="0">
              <a:buNone/>
            </a:pPr>
            <a:r>
              <a:rPr lang="en-US" sz="1100" dirty="0">
                <a:solidFill>
                  <a:srgbClr val="F5F2EA"/>
                </a:solidFill>
                <a:latin typeface="Inter" pitchFamily="34" charset="0"/>
                <a:ea typeface="Inter" pitchFamily="34" charset="-122"/>
                <a:cs typeface="Inter" pitchFamily="34" charset="-120"/>
              </a:rPr>
              <a:t>1er abonnement Pro marseillais</a:t>
            </a:r>
            <a:endParaRPr lang="en-US" sz="1100" dirty="0"/>
          </a:p>
        </p:txBody>
      </p:sp>
      <p:sp>
        <p:nvSpPr>
          <p:cNvPr id="12" name="Shape 10"/>
          <p:cNvSpPr/>
          <p:nvPr/>
        </p:nvSpPr>
        <p:spPr>
          <a:xfrm>
            <a:off x="6126480" y="2834640"/>
            <a:ext cx="2468880" cy="914400"/>
          </a:xfrm>
          <a:prstGeom prst="roundRect">
            <a:avLst>
              <a:gd name="adj" fmla="val 6000"/>
            </a:avLst>
          </a:prstGeom>
          <a:solidFill>
            <a:srgbClr val="33333D"/>
          </a:solidFill>
          <a:ln w="9525">
            <a:solidFill>
              <a:srgbClr val="44444F"/>
            </a:solidFill>
            <a:prstDash val="solid"/>
          </a:ln>
          <a:effectLst>
            <a:outerShdw sx="100000" sy="100000" kx="0" ky="0" algn="bl" rotWithShape="0" blurRad="114300" dist="38100" dir="5400000">
              <a:srgbClr val="000000">
                <a:alpha val="50000"/>
              </a:srgbClr>
            </a:outerShdw>
          </a:effectLst>
        </p:spPr>
      </p:sp>
      <p:sp>
        <p:nvSpPr>
          <p:cNvPr id="13" name="Text 11"/>
          <p:cNvSpPr/>
          <p:nvPr/>
        </p:nvSpPr>
        <p:spPr>
          <a:xfrm>
            <a:off x="6126480" y="2999232"/>
            <a:ext cx="2468880" cy="292608"/>
          </a:xfrm>
          <a:prstGeom prst="rect">
            <a:avLst/>
          </a:prstGeom>
          <a:noFill/>
          <a:ln/>
        </p:spPr>
        <p:txBody>
          <a:bodyPr wrap="square" lIns="0" tIns="0" rIns="0" bIns="0" rtlCol="0" anchor="ctr"/>
          <a:lstStyle/>
          <a:p>
            <a:pPr algn="ctr" indent="0" marL="0">
              <a:buNone/>
            </a:pPr>
            <a:r>
              <a:rPr lang="en-US" sz="1250" b="1" dirty="0">
                <a:solidFill>
                  <a:srgbClr val="C9A227"/>
                </a:solidFill>
                <a:latin typeface="Inter" pitchFamily="34" charset="0"/>
                <a:ea typeface="Inter" pitchFamily="34" charset="-122"/>
                <a:cs typeface="Inter" pitchFamily="34" charset="-120"/>
              </a:rPr>
              <a:t>Long terme</a:t>
            </a:r>
            <a:endParaRPr lang="en-US" sz="1250" dirty="0"/>
          </a:p>
        </p:txBody>
      </p:sp>
      <p:sp>
        <p:nvSpPr>
          <p:cNvPr id="14" name="Text 12"/>
          <p:cNvSpPr/>
          <p:nvPr/>
        </p:nvSpPr>
        <p:spPr>
          <a:xfrm>
            <a:off x="6263640" y="3291840"/>
            <a:ext cx="2194560" cy="365760"/>
          </a:xfrm>
          <a:prstGeom prst="rect">
            <a:avLst/>
          </a:prstGeom>
          <a:noFill/>
          <a:ln/>
        </p:spPr>
        <p:txBody>
          <a:bodyPr wrap="square" lIns="0" tIns="0" rIns="0" bIns="0" rtlCol="0" anchor="ctr"/>
          <a:lstStyle/>
          <a:p>
            <a:pPr algn="ctr" indent="0" marL="0">
              <a:buNone/>
            </a:pPr>
            <a:r>
              <a:rPr lang="en-US" sz="1100" dirty="0">
                <a:solidFill>
                  <a:srgbClr val="F5F2EA"/>
                </a:solidFill>
                <a:latin typeface="Inter" pitchFamily="34" charset="0"/>
                <a:ea typeface="Inter" pitchFamily="34" charset="-122"/>
                <a:cs typeface="Inter" pitchFamily="34" charset="-120"/>
              </a:rPr>
              <a:t>Déploiement en France</a:t>
            </a:r>
            <a:endParaRPr lang="en-US" sz="1100" dirty="0"/>
          </a:p>
        </p:txBody>
      </p:sp>
      <p:sp>
        <p:nvSpPr>
          <p:cNvPr id="15" name="Text 13"/>
          <p:cNvSpPr/>
          <p:nvPr/>
        </p:nvSpPr>
        <p:spPr>
          <a:xfrm>
            <a:off x="0" y="4041648"/>
            <a:ext cx="9144000" cy="365760"/>
          </a:xfrm>
          <a:prstGeom prst="rect">
            <a:avLst/>
          </a:prstGeom>
          <a:noFill/>
          <a:ln/>
        </p:spPr>
        <p:txBody>
          <a:bodyPr wrap="square" lIns="0" tIns="0" rIns="0" bIns="0" rtlCol="0" anchor="ctr"/>
          <a:lstStyle/>
          <a:p>
            <a:pPr algn="ctr" indent="0" marL="0">
              <a:buNone/>
            </a:pPr>
            <a:r>
              <a:rPr lang="en-US" sz="1600" b="1" dirty="0">
                <a:solidFill>
                  <a:srgbClr val="F5F2EA"/>
                </a:solidFill>
                <a:latin typeface="Inter" pitchFamily="34" charset="0"/>
                <a:ea typeface="Inter" pitchFamily="34" charset="-122"/>
                <a:cs typeface="Inter" pitchFamily="34" charset="-120"/>
              </a:rPr>
              <a:t>Merci  ·  Questions</a:t>
            </a:r>
            <a:endParaRPr lang="en-US" sz="1600" dirty="0"/>
          </a:p>
        </p:txBody>
      </p:sp>
      <p:sp>
        <p:nvSpPr>
          <p:cNvPr id="16" name="Text 14"/>
          <p:cNvSpPr/>
          <p:nvPr/>
        </p:nvSpPr>
        <p:spPr>
          <a:xfrm>
            <a:off x="0" y="4526280"/>
            <a:ext cx="9144000" cy="320040"/>
          </a:xfrm>
          <a:prstGeom prst="rect">
            <a:avLst/>
          </a:prstGeom>
          <a:noFill/>
          <a:ln/>
        </p:spPr>
        <p:txBody>
          <a:bodyPr wrap="square" lIns="0" tIns="0" rIns="0" bIns="0" rtlCol="0" anchor="ctr"/>
          <a:lstStyle/>
          <a:p>
            <a:pPr algn="ctr" indent="0" marL="0">
              <a:buNone/>
            </a:pPr>
            <a:r>
              <a:rPr lang="en-US" sz="1400" b="1" spc="500" kern="0" dirty="0">
                <a:solidFill>
                  <a:srgbClr val="C9A227"/>
                </a:solidFill>
                <a:latin typeface="Cambria" pitchFamily="34" charset="0"/>
                <a:ea typeface="Cambria" pitchFamily="34" charset="-122"/>
                <a:cs typeface="Cambria" pitchFamily="34" charset="-120"/>
              </a:rPr>
              <a:t>ΜΟΛΩΝ ΛΑΒΕ</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THYMOS - Soutenance projet annuel</dc:title>
  <dc:subject>PptxGenJS Presentation</dc:subject>
  <dc:creator>Benjamin (ARES)</dc:creator>
  <cp:lastModifiedBy>Benjamin (ARES)</cp:lastModifiedBy>
  <cp:revision>1</cp:revision>
  <dcterms:created xsi:type="dcterms:W3CDTF">2026-06-16T09:41:50Z</dcterms:created>
  <dcterms:modified xsi:type="dcterms:W3CDTF">2026-06-16T09:41:50Z</dcterms:modified>
</cp:coreProperties>
</file>